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56" r:id="rId3"/>
    <p:sldId id="262" r:id="rId4"/>
    <p:sldId id="263" r:id="rId5"/>
    <p:sldId id="257" r:id="rId6"/>
    <p:sldId id="258" r:id="rId7"/>
    <p:sldId id="259" r:id="rId8"/>
    <p:sldId id="260" r:id="rId9"/>
  </p:sldIdLst>
  <p:sldSz cx="13716000" cy="7715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E3066-F204-4DCC-ABF9-4128A8B0CC46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CADA4-515D-42AB-820B-5ECA0D24E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98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FlagForge: a full-stack Capture The Flag platform. Organizers author events and challenges in a browser dashboard; players compete in real time against a scoreboard that is pushed, not polled.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9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Drafts are dimmed and dashed so one look says what players can actually see. The flag field opens blank on an existing challenge: the API never returns a flag, not even to its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53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on these pages follows the live scoreboard feed: a challenge devalues as other teams solve it, without a 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30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78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\AppData\Local\Temp\claude\C--Users-ASH-Downloads-CTF-Platform\2e34c92a-5c6e-43b2-baee-f0c98e736426\scratchpad\deck-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143000"/>
            <a:ext cx="1600200" cy="9509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r>
              <a:rPr lang="en-US" sz="6000" b="1" kern="0" spc="100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33649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2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 YOUR CTF.   CHALLENGE YOUR HACKERS.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3931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for creating and hosting Capture The Flag events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45262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Organizers build events and challenges in the browser. Players form teams and submit flags. The scoreboard rewrites itself on every solve and reaches every spectator over a socket — no polling, no refresh.</a:t>
            </a:r>
            <a:endParaRPr lang="en-US" sz="1300" dirty="0"/>
          </a:p>
        </p:txBody>
      </p:sp>
      <p:sp>
        <p:nvSpPr>
          <p:cNvPr id="7" name="stack Node.js"/>
          <p:cNvSpPr/>
          <p:nvPr/>
        </p:nvSpPr>
        <p:spPr>
          <a:xfrm>
            <a:off x="1051560" y="5559552"/>
            <a:ext cx="778154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5559552"/>
            <a:ext cx="778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050" dirty="0"/>
          </a:p>
        </p:txBody>
      </p:sp>
      <p:sp>
        <p:nvSpPr>
          <p:cNvPr id="9" name="stack TypeScript"/>
          <p:cNvSpPr/>
          <p:nvPr/>
        </p:nvSpPr>
        <p:spPr>
          <a:xfrm>
            <a:off x="1957730" y="5559552"/>
            <a:ext cx="1033272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57730" y="555955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1" name="stack React 19"/>
          <p:cNvSpPr/>
          <p:nvPr/>
        </p:nvSpPr>
        <p:spPr>
          <a:xfrm>
            <a:off x="3119018" y="5559552"/>
            <a:ext cx="863194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19018" y="5559552"/>
            <a:ext cx="863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050" dirty="0"/>
          </a:p>
        </p:txBody>
      </p:sp>
      <p:sp>
        <p:nvSpPr>
          <p:cNvPr id="13" name="stack Express 5"/>
          <p:cNvSpPr/>
          <p:nvPr/>
        </p:nvSpPr>
        <p:spPr>
          <a:xfrm>
            <a:off x="4110228" y="5559552"/>
            <a:ext cx="948233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0228" y="5559552"/>
            <a:ext cx="9482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</a:t>
            </a:r>
            <a:endParaRPr lang="en-US" sz="1050" dirty="0"/>
          </a:p>
        </p:txBody>
      </p:sp>
      <p:sp>
        <p:nvSpPr>
          <p:cNvPr id="15" name="stack PostgreSQL"/>
          <p:cNvSpPr/>
          <p:nvPr/>
        </p:nvSpPr>
        <p:spPr>
          <a:xfrm>
            <a:off x="5186477" y="5559552"/>
            <a:ext cx="1033272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86477" y="555955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7" name="stack Redis"/>
          <p:cNvSpPr/>
          <p:nvPr/>
        </p:nvSpPr>
        <p:spPr>
          <a:xfrm>
            <a:off x="6347765" y="5559552"/>
            <a:ext cx="608076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47765" y="5559552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50" dirty="0"/>
          </a:p>
        </p:txBody>
      </p:sp>
      <p:sp>
        <p:nvSpPr>
          <p:cNvPr id="19" name="stack Socket.io"/>
          <p:cNvSpPr/>
          <p:nvPr/>
        </p:nvSpPr>
        <p:spPr>
          <a:xfrm>
            <a:off x="1051560" y="6071616"/>
            <a:ext cx="948233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51560" y="6071616"/>
            <a:ext cx="9482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050" dirty="0"/>
          </a:p>
        </p:txBody>
      </p:sp>
      <p:sp>
        <p:nvSpPr>
          <p:cNvPr id="21" name="stack Docker"/>
          <p:cNvSpPr/>
          <p:nvPr/>
        </p:nvSpPr>
        <p:spPr>
          <a:xfrm>
            <a:off x="2127809" y="6071616"/>
            <a:ext cx="693115" cy="384048"/>
          </a:xfrm>
          <a:prstGeom prst="roundRect">
            <a:avLst>
              <a:gd name="adj" fmla="val 14286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27809" y="6071616"/>
            <a:ext cx="6931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6629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 1.0   ·   2026</a:t>
            </a:r>
            <a:endParaRPr lang="en-US" sz="1000" dirty="0"/>
          </a:p>
        </p:txBody>
      </p:sp>
      <p:sp>
        <p:nvSpPr>
          <p:cNvPr id="24" name="stat integration tests"/>
          <p:cNvSpPr/>
          <p:nvPr/>
        </p:nvSpPr>
        <p:spPr>
          <a:xfrm>
            <a:off x="8275320" y="1188720"/>
            <a:ext cx="4389120" cy="1170432"/>
          </a:xfrm>
          <a:prstGeom prst="roundRect">
            <a:avLst>
              <a:gd name="adj" fmla="val 6250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03920" y="134416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134416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real Postgres and Redis</a:t>
            </a:r>
            <a:endParaRPr lang="en-US" sz="1300" dirty="0"/>
          </a:p>
        </p:txBody>
      </p:sp>
      <p:sp>
        <p:nvSpPr>
          <p:cNvPr id="27" name="stat teams load-tested"/>
          <p:cNvSpPr/>
          <p:nvPr/>
        </p:nvSpPr>
        <p:spPr>
          <a:xfrm>
            <a:off x="8275320" y="2560320"/>
            <a:ext cx="4389120" cy="1170432"/>
          </a:xfrm>
          <a:prstGeom prst="roundRect">
            <a:avLst>
              <a:gd name="adj" fmla="val 6250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03920" y="271576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10012680" y="271576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load-tested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single API process, no failures</a:t>
            </a:r>
            <a:endParaRPr lang="en-US" sz="1300" dirty="0"/>
          </a:p>
        </p:txBody>
      </p:sp>
      <p:sp>
        <p:nvSpPr>
          <p:cNvPr id="30" name="stat scoreboard read"/>
          <p:cNvSpPr/>
          <p:nvPr/>
        </p:nvSpPr>
        <p:spPr>
          <a:xfrm>
            <a:off x="8275320" y="3931920"/>
            <a:ext cx="4389120" cy="1170432"/>
          </a:xfrm>
          <a:prstGeom prst="roundRect">
            <a:avLst>
              <a:gd name="adj" fmla="val 6250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03920" y="408736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ms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10012680" y="408736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 read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Redis — Postgres never touched</a:t>
            </a:r>
            <a:endParaRPr lang="en-US" sz="1300" dirty="0"/>
          </a:p>
        </p:txBody>
      </p:sp>
      <p:sp>
        <p:nvSpPr>
          <p:cNvPr id="33" name="stat compose file"/>
          <p:cNvSpPr/>
          <p:nvPr/>
        </p:nvSpPr>
        <p:spPr>
          <a:xfrm>
            <a:off x="8275320" y="5303520"/>
            <a:ext cx="4389120" cy="1170432"/>
          </a:xfrm>
          <a:prstGeom prst="roundRect">
            <a:avLst>
              <a:gd name="adj" fmla="val 6250"/>
            </a:avLst>
          </a:prstGeom>
          <a:solidFill>
            <a:srgbClr val="132033"/>
          </a:solidFill>
          <a:ln w="12700">
            <a:solidFill>
              <a:srgbClr val="1F314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03920" y="545896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10012680" y="545896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file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self-host the whole stack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6085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14300"/>
            <a:ext cx="1238250" cy="819150"/>
          </a:xfrm>
          <a:prstGeom prst="roundRect">
            <a:avLst>
              <a:gd name="adj" fmla="val 16279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47650"/>
            <a:ext cx="99060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1150" y="228600"/>
            <a:ext cx="2857500" cy="4762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50" b="1">
                <a:solidFill>
                  <a:srgbClr val="E6EDF5"/>
                </a:solidFill>
                <a:latin typeface="Arial"/>
              </a:rPr>
              <a:t>FLAG</a:t>
            </a:r>
            <a:r>
              <a:rPr sz="2250" b="1">
                <a:solidFill>
                  <a:srgbClr val="1796DE"/>
                </a:solidFill>
                <a:latin typeface="Arial"/>
              </a:rPr>
              <a:t>FORGE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82400" y="133350"/>
            <a:ext cx="2038350" cy="800100"/>
          </a:xfrm>
          <a:prstGeom prst="roundRect">
            <a:avLst>
              <a:gd name="adj" fmla="val 14285"/>
            </a:avLst>
          </a:prstGeom>
          <a:solidFill>
            <a:srgbClr val="121E2E"/>
          </a:solidFill>
          <a:ln w="22225">
            <a:solidFill>
              <a:srgbClr val="3B6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582400" y="133350"/>
            <a:ext cx="2038350" cy="8001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8FA3B8"/>
                </a:solidFill>
                <a:latin typeface="Arial"/>
              </a:rPr>
              <a:t>RELEASE  1.0   ·   2026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FORGE YOUR CTF.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1796DE"/>
                </a:solidFill>
                <a:latin typeface="Arial"/>
              </a:rPr>
              <a:t>CHALLENGE YOUR HACKERS.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0" y="133350"/>
            <a:ext cx="7581900" cy="914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E6EDF5"/>
                </a:solidFill>
                <a:latin typeface="Arial"/>
              </a:rPr>
              <a:t>A Platform for Creating and Hosting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E6EDF5"/>
                </a:solidFill>
                <a:latin typeface="Arial"/>
              </a:rPr>
              <a:t>Capture The Flag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FFFFFF"/>
                </a:solidFill>
                <a:latin typeface="Arial"/>
              </a:rPr>
              <a:t>FlagForge   ·   Forge your CTF. Challenge your hackers.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0" y="7524750"/>
            <a:ext cx="8001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7620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350" y="1333500"/>
            <a:ext cx="9677400" cy="895350"/>
          </a:xfrm>
          <a:prstGeom prst="roundRect">
            <a:avLst>
              <a:gd name="adj" fmla="val 12765"/>
            </a:avLst>
          </a:prstGeom>
          <a:solidFill>
            <a:srgbClr val="142436"/>
          </a:solidFill>
          <a:ln w="15875">
            <a:solidFill>
              <a:srgbClr val="3F6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350" tIns="57150" rIns="133350" bIns="57150" rtlCol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EDF5"/>
                </a:solidFill>
                <a:latin typeface="Arial"/>
              </a:rPr>
              <a:t>FlagForge is </a:t>
            </a:r>
            <a:r>
              <a:rPr sz="1200" b="0">
                <a:solidFill>
                  <a:srgbClr val="E6EDF5"/>
                </a:solidFill>
                <a:latin typeface="Arial"/>
              </a:rPr>
              <a:t>a </a:t>
            </a:r>
            <a:r>
              <a:rPr sz="1200" b="1">
                <a:solidFill>
                  <a:srgbClr val="E6EDF5"/>
                </a:solidFill>
                <a:latin typeface="Arial"/>
              </a:rPr>
              <a:t>full-stack Capture The Flag platform</a:t>
            </a:r>
            <a:r>
              <a:rPr sz="1200" b="0">
                <a:solidFill>
                  <a:srgbClr val="E6EDF5"/>
                </a:solidFill>
                <a:latin typeface="Arial"/>
              </a:rPr>
              <a:t> where organizers build events and challenges in the browser and players compete in real time. It keeps the scoreboard honest with </a:t>
            </a:r>
            <a:r>
              <a:rPr sz="1200" b="1">
                <a:solidFill>
                  <a:srgbClr val="E6EDF5"/>
                </a:solidFill>
                <a:latin typeface="Arial"/>
              </a:rPr>
              <a:t>dynamic scoring</a:t>
            </a:r>
            <a:r>
              <a:rPr sz="1200" b="0">
                <a:solidFill>
                  <a:srgbClr val="E6EDF5"/>
                </a:solidFill>
                <a:latin typeface="Arial"/>
              </a:rPr>
              <a:t>, pushes every change over a socket, and </a:t>
            </a:r>
            <a:r>
              <a:rPr sz="1200" b="1">
                <a:solidFill>
                  <a:srgbClr val="E6EDF5"/>
                </a:solidFill>
                <a:latin typeface="Arial"/>
              </a:rPr>
              <a:t>serves the standings from a Redis snapshot that never touches Postgres</a:t>
            </a:r>
            <a:r>
              <a:rPr sz="1200" b="0">
                <a:solidFill>
                  <a:srgbClr val="E6EDF5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350" y="2305050"/>
            <a:ext cx="7239000" cy="2457450"/>
          </a:xfrm>
          <a:prstGeom prst="roundRect">
            <a:avLst>
              <a:gd name="adj" fmla="val 4651"/>
            </a:avLst>
          </a:prstGeom>
          <a:solidFill>
            <a:srgbClr val="233317"/>
          </a:solidFill>
          <a:ln w="15875">
            <a:solidFill>
              <a:srgbClr val="6CA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350" tIns="95250" rIns="114300" bIns="76200" rtlCol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75" b="1" u="sng">
                <a:solidFill>
                  <a:srgbClr val="E6EDF5"/>
                </a:solidFill>
                <a:latin typeface="Arial"/>
              </a:rPr>
              <a:t>Platform Capabilities: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[1] Event authoring</a:t>
            </a:r>
            <a:r>
              <a:rPr sz="1125" b="0">
                <a:solidFill>
                  <a:srgbClr val="E6EDF5"/>
                </a:solidFill>
                <a:latin typeface="Arial"/>
              </a:rPr>
              <a:t> – organizer dashboard for events, Markdown challenges, attachments and publish control.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[2] Team play</a:t>
            </a:r>
            <a:r>
              <a:rPr sz="1125" b="0">
                <a:solidFill>
                  <a:srgbClr val="E6EDF5"/>
                </a:solidFill>
                <a:latin typeface="Arial"/>
              </a:rPr>
              <a:t> – invite-code teams, shared solves, one team per player per event.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[3] Dynamic scoring</a:t>
            </a:r>
            <a:r>
              <a:rPr sz="1125" b="0">
                <a:solidFill>
                  <a:srgbClr val="E6EDF5"/>
                </a:solidFill>
                <a:latin typeface="Arial"/>
              </a:rPr>
              <a:t> – a challenge the whole field clears is worth less; first blood is never devalued.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[4] Live scoreboard</a:t>
            </a:r>
            <a:r>
              <a:rPr sz="1125" b="0">
                <a:solidFill>
                  <a:srgbClr val="E6EDF5"/>
                </a:solidFill>
                <a:latin typeface="Arial"/>
              </a:rPr>
              <a:t> – Socket.io push, rank-over-time graph, public to spectators with no 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350" y="4857750"/>
            <a:ext cx="7239000" cy="2514600"/>
          </a:xfrm>
          <a:prstGeom prst="roundRect">
            <a:avLst>
              <a:gd name="adj" fmla="val 4545"/>
            </a:avLst>
          </a:prstGeom>
          <a:solidFill>
            <a:srgbClr val="362314"/>
          </a:solidFill>
          <a:ln w="15875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350" tIns="95250" rIns="114300" bIns="76200" rtlCol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75" b="1" u="sng">
                <a:solidFill>
                  <a:srgbClr val="E6EDF5"/>
                </a:solidFill>
                <a:latin typeface="Arial"/>
              </a:rPr>
              <a:t>Our Implementation includes: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•  Redis sorted-set leaderboard</a:t>
            </a:r>
            <a:r>
              <a:rPr sz="1125" b="0">
                <a:solidFill>
                  <a:srgbClr val="E6EDF5"/>
                </a:solidFill>
                <a:latin typeface="Arial"/>
              </a:rPr>
              <a:t> rebuilt by a single Lua script per solve and read with one ZREVRANGE plus one HMGET — </a:t>
            </a:r>
            <a:r>
              <a:rPr sz="1125" b="1">
                <a:solidFill>
                  <a:srgbClr val="E6EDF5"/>
                </a:solidFill>
                <a:latin typeface="Arial"/>
              </a:rPr>
              <a:t>4 ms</a:t>
            </a:r>
            <a:r>
              <a:rPr sz="1125" b="0">
                <a:solidFill>
                  <a:srgbClr val="E6EDF5"/>
                </a:solidFill>
                <a:latin typeface="Arial"/>
              </a:rPr>
              <a:t> instead of a full SQL recompute.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•  Database-enforced game rules</a:t>
            </a:r>
            <a:r>
              <a:rPr sz="1125" b="0">
                <a:solidFill>
                  <a:srgbClr val="E6EDF5"/>
                </a:solidFill>
                <a:latin typeface="Arial"/>
              </a:rPr>
              <a:t>: composite foreign keys and a partial unique index make a duplicate or cross-event solve impossible, even under concurrent submits.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•  HMAC-SHA256 flags</a:t>
            </a:r>
            <a:r>
              <a:rPr sz="1125" b="0">
                <a:solidFill>
                  <a:srgbClr val="E6EDF5"/>
                </a:solidFill>
                <a:latin typeface="Arial"/>
              </a:rPr>
              <a:t> compared in constant time behind a Redis sliding-window rate limiter — a leaked database alone cracks nothing.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•  64 integration tests</a:t>
            </a:r>
            <a:r>
              <a:rPr sz="1125" b="0">
                <a:solidFill>
                  <a:srgbClr val="E6EDF5"/>
                </a:solidFill>
                <a:latin typeface="Arial"/>
              </a:rPr>
              <a:t> run against real Postgres and Redis, plus a measured 2,000-team load test and a one-command Docker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850" y="2305050"/>
            <a:ext cx="2381250" cy="457200"/>
          </a:xfrm>
          <a:prstGeom prst="roundRect">
            <a:avLst>
              <a:gd name="adj" fmla="val 25000"/>
            </a:avLst>
          </a:prstGeom>
          <a:solidFill>
            <a:srgbClr val="142436"/>
          </a:solidFill>
          <a:ln w="15875">
            <a:solidFill>
              <a:srgbClr val="3F6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62850" y="2305050"/>
            <a:ext cx="238125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25" b="1">
                <a:solidFill>
                  <a:srgbClr val="E6EDF5"/>
                </a:solidFill>
                <a:latin typeface="Arial"/>
              </a:rPr>
              <a:t>Scoring Curve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850" y="2914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361614"/>
          </a:solidFill>
          <a:ln w="12700">
            <a:solidFill>
              <a:srgbClr val="D98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First blood · solve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FA3B8"/>
                </a:solidFill>
                <a:latin typeface="Arial"/>
              </a:rPr>
              <a:t>500 pts, never devalued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3475" y="3524250"/>
            <a:ext cx="0" cy="1524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62850" y="369570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143036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Tier 0 · solves 2–6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FA3B8"/>
                </a:solidFill>
                <a:latin typeface="Arial"/>
              </a:rPr>
              <a:t>499 → 484 pts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3475" y="4305300"/>
            <a:ext cx="0" cy="1524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62850" y="44767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143036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Tier 1 · solves 7–16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FA3B8"/>
                </a:solidFill>
                <a:latin typeface="Arial"/>
              </a:rPr>
              <a:t>477 → 356 pts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53475" y="5086350"/>
            <a:ext cx="0" cy="1524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62850" y="525780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143036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Tier 2 · solves 17–26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FA3B8"/>
                </a:solidFill>
                <a:latin typeface="Arial"/>
              </a:rPr>
              <a:t>336 → 100 pts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3475" y="5867400"/>
            <a:ext cx="0" cy="1524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62850" y="60388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143036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Tier 3 · solves 27+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FA3B8"/>
                </a:solidFill>
                <a:latin typeface="Arial"/>
              </a:rPr>
              <a:t>100 pts floor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9350" y="1390650"/>
            <a:ext cx="3600450" cy="838200"/>
          </a:xfrm>
          <a:prstGeom prst="roundRect">
            <a:avLst>
              <a:gd name="adj" fmla="val 11363"/>
            </a:avLst>
          </a:prstGeom>
          <a:solidFill>
            <a:srgbClr val="361614"/>
          </a:solidFill>
          <a:ln w="12700">
            <a:solidFill>
              <a:srgbClr val="D98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5"/>
                </a:solidFill>
                <a:latin typeface="Arial"/>
              </a:rPr>
              <a:t>Organizer Dashboard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75" b="1">
                <a:solidFill>
                  <a:srgbClr val="E6EDF5"/>
                </a:solidFill>
                <a:latin typeface="Arial"/>
              </a:rPr>
              <a:t>(events · challenges · files)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839575" y="2228850"/>
            <a:ext cx="0" cy="2667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39350" y="2495550"/>
            <a:ext cx="3600450" cy="838200"/>
          </a:xfrm>
          <a:prstGeom prst="roundRect">
            <a:avLst>
              <a:gd name="adj" fmla="val 11363"/>
            </a:avLst>
          </a:prstGeom>
          <a:solidFill>
            <a:srgbClr val="3623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5"/>
                </a:solidFill>
                <a:latin typeface="Arial"/>
              </a:rPr>
              <a:t>Auth &amp; Teams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75" b="1">
                <a:solidFill>
                  <a:srgbClr val="E6EDF5"/>
                </a:solidFill>
                <a:latin typeface="Arial"/>
              </a:rPr>
              <a:t>(JWT HS256 · Argon2id)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839575" y="3333750"/>
            <a:ext cx="0" cy="2667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039350" y="3600450"/>
            <a:ext cx="3600450" cy="838200"/>
          </a:xfrm>
          <a:prstGeom prst="roundRect">
            <a:avLst>
              <a:gd name="adj" fmla="val 11363"/>
            </a:avLst>
          </a:prstGeom>
          <a:solidFill>
            <a:srgbClr val="142436"/>
          </a:solidFill>
          <a:ln w="12700">
            <a:solidFill>
              <a:srgbClr val="3F6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5"/>
                </a:solidFill>
                <a:latin typeface="Arial"/>
              </a:rPr>
              <a:t>Flag Check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75" b="1">
                <a:solidFill>
                  <a:srgbClr val="E6EDF5"/>
                </a:solidFill>
                <a:latin typeface="Arial"/>
              </a:rPr>
              <a:t>(HMAC-SHA256 · rate limit)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839575" y="4438650"/>
            <a:ext cx="0" cy="2667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39350" y="4705350"/>
            <a:ext cx="3600450" cy="838200"/>
          </a:xfrm>
          <a:prstGeom prst="roundRect">
            <a:avLst>
              <a:gd name="adj" fmla="val 11363"/>
            </a:avLst>
          </a:prstGeom>
          <a:solidFill>
            <a:srgbClr val="233317"/>
          </a:solidFill>
          <a:ln w="12700">
            <a:solidFill>
              <a:srgbClr val="6CA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5"/>
                </a:solidFill>
                <a:latin typeface="Arial"/>
              </a:rPr>
              <a:t>Scoring &amp; Leaderboard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75" b="1">
                <a:solidFill>
                  <a:srgbClr val="E6EDF5"/>
                </a:solidFill>
                <a:latin typeface="Arial"/>
              </a:rPr>
              <a:t>(Redis sorted set · Lua)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839575" y="5543550"/>
            <a:ext cx="0" cy="2667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39350" y="5810250"/>
            <a:ext cx="3600450" cy="838200"/>
          </a:xfrm>
          <a:prstGeom prst="roundRect">
            <a:avLst>
              <a:gd name="adj" fmla="val 11363"/>
            </a:avLst>
          </a:prstGeom>
          <a:solidFill>
            <a:srgbClr val="1E1436"/>
          </a:solidFill>
          <a:ln w="12700">
            <a:solidFill>
              <a:srgbClr val="9B8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5"/>
                </a:solidFill>
                <a:latin typeface="Arial"/>
              </a:rPr>
              <a:t>Live Scoreboard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75" b="1">
                <a:solidFill>
                  <a:srgbClr val="E6EDF5"/>
                </a:solidFill>
                <a:latin typeface="Arial"/>
              </a:rPr>
              <a:t>(Socket.io · React 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274320" y="164592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pic>
        <p:nvPicPr>
          <p:cNvPr id="3" name="Image 0" descr="C:\Users\ASH\AppData\Local\Temp\claude\C--Users-ASH-Downloads-CTF-Platform\2e34c92a-5c6e-43b2-baee-f0c98e736426\scratchpad\deck-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02336"/>
            <a:ext cx="612648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r>
              <a:rPr lang="en-US" sz="2200" b="1" kern="0" spc="50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182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DASHBOARD</a:t>
            </a:r>
            <a:endParaRPr lang="en-US" sz="3200" dirty="0"/>
          </a:p>
        </p:txBody>
      </p:sp>
      <p:sp>
        <p:nvSpPr>
          <p:cNvPr id="6" name="release badge"/>
          <p:cNvSpPr/>
          <p:nvPr/>
        </p:nvSpPr>
        <p:spPr>
          <a:xfrm>
            <a:off x="11475720" y="164592"/>
            <a:ext cx="2011680" cy="868680"/>
          </a:xfrm>
          <a:prstGeom prst="rect">
            <a:avLst/>
          </a:prstGeom>
          <a:solidFill>
            <a:srgbClr val="121E2E"/>
          </a:solidFill>
          <a:ln w="12700">
            <a:solidFill>
              <a:srgbClr val="3B6BA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75720" y="237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 1.0   ·   2026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kern="0" spc="4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 YOUR CTF.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b="1" kern="0" spc="40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YOUR HACKERS.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7395210"/>
            <a:ext cx="13716000" cy="320040"/>
          </a:xfrm>
          <a:prstGeom prst="rect">
            <a:avLst/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0" y="7395210"/>
            <a:ext cx="1371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FlagForge   ·   Forge your CTF. Challenge your hackers.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3030200" y="739521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152144"/>
            <a:ext cx="1261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Markdown challenges, dynamic scoring and file attachments — authored entirely in the browser.</a:t>
            </a:r>
            <a:endParaRPr lang="en-US" sz="1200" dirty="0"/>
          </a:p>
        </p:txBody>
      </p:sp>
      <p:sp>
        <p:nvSpPr>
          <p:cNvPr id="13" name="Challenges grouped by category — live point value, solve count and publish state at a glance frame"/>
          <p:cNvSpPr/>
          <p:nvPr/>
        </p:nvSpPr>
        <p:spPr>
          <a:xfrm>
            <a:off x="525780" y="1595628"/>
            <a:ext cx="7589520" cy="5184648"/>
          </a:xfrm>
          <a:prstGeom prst="rect">
            <a:avLst/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pic>
        <p:nvPicPr>
          <p:cNvPr id="14" name="Image 1" descr="C:\Users\ASH\AppData\Local\Temp\claude\C--Users-ASH-Downloads-CTF-Platform\2e34c92a-5c6e-43b2-baee-f0c98e736426\scratchpad\shot-admin-list-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1627632"/>
            <a:ext cx="7525512" cy="51206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7784" y="6839712"/>
            <a:ext cx="7525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grouped by category — live point value, solve count and publish state at a glance</a:t>
            </a:r>
            <a:endParaRPr lang="en-US" sz="1050" dirty="0"/>
          </a:p>
        </p:txBody>
      </p:sp>
      <p:sp>
        <p:nvSpPr>
          <p:cNvPr id="16" name="The editor: Markdown, write-only flag, scoring curve and attachments frame"/>
          <p:cNvSpPr/>
          <p:nvPr/>
        </p:nvSpPr>
        <p:spPr>
          <a:xfrm>
            <a:off x="8508492" y="1595628"/>
            <a:ext cx="4681728" cy="5184648"/>
          </a:xfrm>
          <a:prstGeom prst="rect">
            <a:avLst/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pic>
        <p:nvPicPr>
          <p:cNvPr id="17" name="Image 2" descr="C:\Users\ASH\AppData\Local\Temp\claude\C--Users-ASH-Downloads-CTF-Platform\2e34c92a-5c6e-43b2-baee-f0c98e736426\scratchpad\shot-admin-editor-t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1627632"/>
            <a:ext cx="4617720" cy="5120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40496" y="683971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editor: Markdown, write-only flag, scoring curve and attachments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7656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274320" y="164592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pic>
        <p:nvPicPr>
          <p:cNvPr id="3" name="Image 0" descr="C:\Users\ASH\AppData\Local\Temp\claude\C--Users-ASH-Downloads-CTF-Platform\2e34c92a-5c6e-43b2-baee-f0c98e736426\scratchpad\deck-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02336"/>
            <a:ext cx="612648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r>
              <a:rPr lang="en-US" sz="2200" b="1" kern="0" spc="50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182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EXPERIENCE</a:t>
            </a:r>
            <a:endParaRPr lang="en-US" sz="3200" dirty="0"/>
          </a:p>
        </p:txBody>
      </p:sp>
      <p:sp>
        <p:nvSpPr>
          <p:cNvPr id="6" name="release badge"/>
          <p:cNvSpPr/>
          <p:nvPr/>
        </p:nvSpPr>
        <p:spPr>
          <a:xfrm>
            <a:off x="11475720" y="164592"/>
            <a:ext cx="2011680" cy="868680"/>
          </a:xfrm>
          <a:prstGeom prst="rect">
            <a:avLst/>
          </a:prstGeom>
          <a:solidFill>
            <a:srgbClr val="121E2E"/>
          </a:solidFill>
          <a:ln w="12700">
            <a:solidFill>
              <a:srgbClr val="3B6BA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75720" y="237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 1.0   ·   2026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b="1" kern="0" spc="4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 YOUR CTF.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b="1" kern="0" spc="40" dirty="0">
                <a:solidFill>
                  <a:srgbClr val="179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YOUR HACKERS.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7395210"/>
            <a:ext cx="13716000" cy="320040"/>
          </a:xfrm>
          <a:prstGeom prst="rect">
            <a:avLst/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0" y="7395210"/>
            <a:ext cx="1371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FlagForge   ·   Forge your CTF. Challenge your hackers.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3030200" y="739521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152144"/>
            <a:ext cx="1261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a filtered challenge board, instant flag feedback, and a scoreboard that moves on its own.</a:t>
            </a:r>
            <a:endParaRPr lang="en-US" sz="1200" dirty="0"/>
          </a:p>
        </p:txBody>
      </p:sp>
      <p:sp>
        <p:nvSpPr>
          <p:cNvPr id="13" name="Public scoreboard — rank over time, pushed over Socket.io, no account needed to watch frame"/>
          <p:cNvSpPr/>
          <p:nvPr/>
        </p:nvSpPr>
        <p:spPr>
          <a:xfrm>
            <a:off x="516636" y="1595628"/>
            <a:ext cx="7059168" cy="5367528"/>
          </a:xfrm>
          <a:prstGeom prst="rect">
            <a:avLst/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pic>
        <p:nvPicPr>
          <p:cNvPr id="14" name="Image 1" descr="C:\Users\ASH\AppData\Local\Temp\claude\C--Users-ASH-Downloads-CTF-Platform\2e34c92a-5c6e-43b2-baee-f0c98e736426\scratchpad\shot-scoreboard-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27632"/>
            <a:ext cx="6995160" cy="53035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" y="7022592"/>
            <a:ext cx="699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scoreboard — rank over time, pushed over Socket.io, no account needed to watch</a:t>
            </a:r>
            <a:endParaRPr lang="en-US" sz="1050" dirty="0"/>
          </a:p>
        </p:txBody>
      </p:sp>
      <p:sp>
        <p:nvSpPr>
          <p:cNvPr id="16" name="Challenge board with category filters, live points and the team panel frame"/>
          <p:cNvSpPr/>
          <p:nvPr/>
        </p:nvSpPr>
        <p:spPr>
          <a:xfrm>
            <a:off x="8014716" y="1595628"/>
            <a:ext cx="5184648" cy="2368296"/>
          </a:xfrm>
          <a:prstGeom prst="rect">
            <a:avLst/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pic>
        <p:nvPicPr>
          <p:cNvPr id="17" name="Image 2" descr="C:\Users\ASH\AppData\Local\Temp\claude\C--Users-ASH-Downloads-CTF-Platform\2e34c92a-5c6e-43b2-baee-f0c98e736426\scratchpad\shot-player-board-t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627632"/>
            <a:ext cx="5120640" cy="23042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46720" y="40233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board with category filters, live points and the team panel</a:t>
            </a:r>
            <a:endParaRPr lang="en-US" sz="1050" dirty="0"/>
          </a:p>
        </p:txBody>
      </p:sp>
      <p:sp>
        <p:nvSpPr>
          <p:cNvPr id="19" name="Challenge dialog: brief, handout, flag input frame"/>
          <p:cNvSpPr/>
          <p:nvPr/>
        </p:nvSpPr>
        <p:spPr>
          <a:xfrm>
            <a:off x="8654796" y="4411980"/>
            <a:ext cx="3904488" cy="2569464"/>
          </a:xfrm>
          <a:prstGeom prst="rect">
            <a:avLst/>
          </a:prstGeom>
          <a:solidFill>
            <a:srgbClr val="0B1420"/>
          </a:solidFill>
          <a:ln w="12700">
            <a:solidFill>
              <a:srgbClr val="3B6BAB"/>
            </a:solidFill>
            <a:prstDash val="solid"/>
          </a:ln>
        </p:spPr>
      </p:sp>
      <p:pic>
        <p:nvPicPr>
          <p:cNvPr id="20" name="Image 3" descr="C:\Users\ASH\AppData\Local\Temp\claude\C--Users-ASH-Downloads-CTF-Platform\2e34c92a-5c6e-43b2-baee-f0c98e736426\scratchpad\shot-dialog-tr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443984"/>
            <a:ext cx="3840480" cy="2505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0" y="7040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dialog: brief, handout, flag input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35612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14300"/>
            <a:ext cx="1238250" cy="819150"/>
          </a:xfrm>
          <a:prstGeom prst="roundRect">
            <a:avLst>
              <a:gd name="adj" fmla="val 16279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47650"/>
            <a:ext cx="99060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1150" y="228600"/>
            <a:ext cx="2857500" cy="4762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50" b="1">
                <a:solidFill>
                  <a:srgbClr val="E6EDF5"/>
                </a:solidFill>
                <a:latin typeface="Arial"/>
              </a:rPr>
              <a:t>FLAG</a:t>
            </a:r>
            <a:r>
              <a:rPr sz="2250" b="1">
                <a:solidFill>
                  <a:srgbClr val="1796DE"/>
                </a:solidFill>
                <a:latin typeface="Arial"/>
              </a:rPr>
              <a:t>FORGE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82400" y="133350"/>
            <a:ext cx="2038350" cy="800100"/>
          </a:xfrm>
          <a:prstGeom prst="roundRect">
            <a:avLst>
              <a:gd name="adj" fmla="val 14285"/>
            </a:avLst>
          </a:prstGeom>
          <a:solidFill>
            <a:srgbClr val="121E2E"/>
          </a:solidFill>
          <a:ln w="22225">
            <a:solidFill>
              <a:srgbClr val="3B6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582400" y="133350"/>
            <a:ext cx="2038350" cy="8001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8FA3B8"/>
                </a:solidFill>
                <a:latin typeface="Arial"/>
              </a:rPr>
              <a:t>RELEASE  1.0   ·   2026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FORGE YOUR CTF.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1796DE"/>
                </a:solidFill>
                <a:latin typeface="Arial"/>
              </a:rPr>
              <a:t>CHALLENGE YOUR HACKERS.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0" y="133350"/>
            <a:ext cx="7581900" cy="914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50" b="1">
                <a:solidFill>
                  <a:srgbClr val="E6EDF5"/>
                </a:solidFill>
                <a:latin typeface="Arial"/>
              </a:rPr>
              <a:t>TECHNICAL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FFFFFF"/>
                </a:solidFill>
                <a:latin typeface="Arial"/>
              </a:rPr>
              <a:t>FlagForge   ·   Forge your CTF. Challenge your hackers.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0" y="7524750"/>
            <a:ext cx="8001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7620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1314450"/>
            <a:ext cx="5715000" cy="514350"/>
          </a:xfrm>
          <a:prstGeom prst="roundRect">
            <a:avLst>
              <a:gd name="adj" fmla="val 22222"/>
            </a:avLst>
          </a:prstGeom>
          <a:solidFill>
            <a:srgbClr val="142E36"/>
          </a:solidFill>
          <a:ln w="15875">
            <a:solidFill>
              <a:srgbClr val="7C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7250" y="1314450"/>
            <a:ext cx="5715000" cy="5143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E6EDF5"/>
                </a:solidFill>
                <a:latin typeface="Arial"/>
              </a:rPr>
              <a:t>WORKFLOW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9075" y="1314450"/>
            <a:ext cx="5753100" cy="514350"/>
          </a:xfrm>
          <a:prstGeom prst="roundRect">
            <a:avLst>
              <a:gd name="adj" fmla="val 22222"/>
            </a:avLst>
          </a:prstGeom>
          <a:solidFill>
            <a:srgbClr val="361420"/>
          </a:solidFill>
          <a:ln w="15875">
            <a:solidFill>
              <a:srgbClr val="E3A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39075" y="1314450"/>
            <a:ext cx="5753100" cy="5143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E6EDF5"/>
                </a:solidFill>
                <a:latin typeface="Arial"/>
              </a:rPr>
              <a:t>TOOLS and TECHNOLOGIES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" y="2000250"/>
            <a:ext cx="7543800" cy="5391150"/>
          </a:xfrm>
          <a:prstGeom prst="roundRect">
            <a:avLst>
              <a:gd name="adj" fmla="val 1766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9550" y="2133600"/>
            <a:ext cx="6115050" cy="762000"/>
          </a:xfrm>
          <a:prstGeom prst="roundRect">
            <a:avLst>
              <a:gd name="adj" fmla="val 10000"/>
            </a:avLst>
          </a:prstGeom>
          <a:solidFill>
            <a:srgbClr val="142236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09550" y="2133600"/>
            <a:ext cx="6115050" cy="2095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CA2E0"/>
                </a:solidFill>
                <a:latin typeface="Arial"/>
              </a:rPr>
              <a:t>CLIENTS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750" y="23622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Organizer dashboard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React 19 · Vite · wizard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5050" y="23622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Player web 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board · team · submit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4350" y="23622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Public scoreboard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no account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" y="3009900"/>
            <a:ext cx="6115050" cy="762000"/>
          </a:xfrm>
          <a:prstGeom prst="roundRect">
            <a:avLst>
              <a:gd name="adj" fmla="val 10000"/>
            </a:avLst>
          </a:prstGeom>
          <a:solidFill>
            <a:srgbClr val="1D1436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9550" y="3009900"/>
            <a:ext cx="6115050" cy="2095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8869D3"/>
                </a:solidFill>
                <a:latin typeface="Arial"/>
              </a:rPr>
              <a:t>API LAYER  (Express 5 · TypeScript)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5750" y="32385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Auth &amp; roles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JWT HS256 · fresh user 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05050" y="32385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Request validation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Zod 4 schemas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4350" y="32385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Rate limiter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Redis sliding window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9550" y="3886200"/>
            <a:ext cx="6115050" cy="914400"/>
          </a:xfrm>
          <a:prstGeom prst="roundRect">
            <a:avLst>
              <a:gd name="adj" fmla="val 8333"/>
            </a:avLst>
          </a:prstGeom>
          <a:solidFill>
            <a:srgbClr val="362914"/>
          </a:solidFill>
          <a:ln w="12700">
            <a:solidFill>
              <a:srgbClr val="E8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09550" y="3886200"/>
            <a:ext cx="6115050" cy="2095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DA34F"/>
                </a:solidFill>
                <a:latin typeface="Arial"/>
              </a:rPr>
              <a:t>GAME 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750" y="4114800"/>
            <a:ext cx="1924050" cy="609600"/>
          </a:xfrm>
          <a:prstGeom prst="roundRect">
            <a:avLst>
              <a:gd name="adj" fmla="val 9375"/>
            </a:avLst>
          </a:prstGeom>
          <a:solidFill>
            <a:srgbClr val="121E2E"/>
          </a:solidFill>
          <a:ln w="12700">
            <a:solidFill>
              <a:srgbClr val="E8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Flag check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HMAC-SHA256 · constant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05050" y="4114800"/>
            <a:ext cx="1924050" cy="609600"/>
          </a:xfrm>
          <a:prstGeom prst="roundRect">
            <a:avLst>
              <a:gd name="adj" fmla="val 9375"/>
            </a:avLst>
          </a:prstGeom>
          <a:solidFill>
            <a:srgbClr val="121E2E"/>
          </a:solidFill>
          <a:ln w="12700">
            <a:solidFill>
              <a:srgbClr val="E8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Dynamic scoring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value(n) curve · per challenge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4350" y="4114800"/>
            <a:ext cx="1924050" cy="609600"/>
          </a:xfrm>
          <a:prstGeom prst="roundRect">
            <a:avLst>
              <a:gd name="adj" fmla="val 9375"/>
            </a:avLst>
          </a:prstGeom>
          <a:solidFill>
            <a:srgbClr val="121E2E"/>
          </a:solidFill>
          <a:ln w="12700">
            <a:solidFill>
              <a:srgbClr val="E8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Leaderboard rebuild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one Lua script · revision guard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9550" y="4953000"/>
            <a:ext cx="6115050" cy="762000"/>
          </a:xfrm>
          <a:prstGeom prst="roundRect">
            <a:avLst>
              <a:gd name="adj" fmla="val 10000"/>
            </a:avLst>
          </a:prstGeom>
          <a:solidFill>
            <a:srgbClr val="203317"/>
          </a:solidFill>
          <a:ln w="12700">
            <a:solidFill>
              <a:srgbClr val="A6C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09550" y="4953000"/>
            <a:ext cx="6115050" cy="2095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2D369"/>
                </a:solidFill>
                <a:latin typeface="Arial"/>
              </a:rPr>
              <a:t>DATA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5750" y="51816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A6C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PostgreSQL 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7 tables · FK + index enforced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05050" y="51816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A6C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Redis 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rank · teams · meta · 5 min TTL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4350" y="51816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A6C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Attachment store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multer · token-checked downloads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9550" y="5829300"/>
            <a:ext cx="6115050" cy="762000"/>
          </a:xfrm>
          <a:prstGeom prst="roundRect">
            <a:avLst>
              <a:gd name="adj" fmla="val 10000"/>
            </a:avLst>
          </a:prstGeom>
          <a:solidFill>
            <a:srgbClr val="143036"/>
          </a:solidFill>
          <a:ln w="12700">
            <a:solidFill>
              <a:srgbClr val="86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09550" y="5829300"/>
            <a:ext cx="6115050" cy="2095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ED4EE"/>
                </a:solidFill>
                <a:latin typeface="Arial"/>
              </a:rPr>
              <a:t>REAL-TIME &amp; OUTPUTS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5750" y="60579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86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Socket.io channel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UPDATE_SCOREBOARD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05050" y="60579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86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Rank-over-time 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inline SVG · top 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4350" y="6057900"/>
            <a:ext cx="1924050" cy="4572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86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REST fallback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works without a socket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67075" y="2895600"/>
            <a:ext cx="0" cy="1143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267075" y="3771900"/>
            <a:ext cx="0" cy="1143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267075" y="4838700"/>
            <a:ext cx="0" cy="1143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67075" y="5715000"/>
            <a:ext cx="0" cy="114300"/>
          </a:xfrm>
          <a:prstGeom prst="line">
            <a:avLst/>
          </a:prstGeom>
          <a:ln w="1397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09550" y="6705600"/>
            <a:ext cx="6115050" cy="571500"/>
          </a:xfrm>
          <a:prstGeom prst="roundRect">
            <a:avLst>
              <a:gd name="adj" fmla="val 13333"/>
            </a:avLst>
          </a:prstGeom>
          <a:solidFill>
            <a:srgbClr val="1B252F"/>
          </a:solidFill>
          <a:ln w="12700">
            <a:solidFill>
              <a:srgbClr val="A9B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09550" y="6705600"/>
            <a:ext cx="6115050" cy="571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5CA2E0"/>
                </a:solidFill>
                <a:latin typeface="Arial"/>
              </a:rPr>
              <a:t>DEPLOYMENT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E6EDF5"/>
                </a:solidFill>
                <a:latin typeface="Arial"/>
              </a:rPr>
              <a:t>Docker Compose for local and production · nginx in front of both clients · containerised API · persistent upload volume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8900" y="2133600"/>
            <a:ext cx="1123950" cy="1638300"/>
          </a:xfrm>
          <a:prstGeom prst="roundRect">
            <a:avLst>
              <a:gd name="adj" fmla="val 6779"/>
            </a:avLst>
          </a:prstGeom>
          <a:solidFill>
            <a:srgbClr val="142E36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50" b="1">
                <a:solidFill>
                  <a:srgbClr val="4EE3EE"/>
                </a:solidFill>
                <a:latin typeface="Arial"/>
              </a:rPr>
              <a:t>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Automated tests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4EE3EE"/>
                </a:solidFill>
                <a:latin typeface="Arial"/>
              </a:rPr>
              <a:t>64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8FA3B8"/>
                </a:solidFill>
                <a:latin typeface="Arial"/>
              </a:rPr>
              <a:t>TESTS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38900" y="3886200"/>
            <a:ext cx="1123950" cy="1981200"/>
          </a:xfrm>
          <a:prstGeom prst="roundRect">
            <a:avLst>
              <a:gd name="adj" fmla="val 6779"/>
            </a:avLst>
          </a:prstGeom>
          <a:solidFill>
            <a:srgbClr val="361414"/>
          </a:solidFill>
          <a:ln w="12700">
            <a:solidFill>
              <a:srgbClr val="D98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6EDF5"/>
                </a:solidFill>
                <a:latin typeface="Arial"/>
              </a:rPr>
              <a:t>Evaluation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vitest + supertest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real Postgres + Redis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typecheck on both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workspaces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load test · 2,000 teams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38900" y="5981700"/>
            <a:ext cx="1123950" cy="1295400"/>
          </a:xfrm>
          <a:prstGeom prst="roundRect">
            <a:avLst>
              <a:gd name="adj" fmla="val 6779"/>
            </a:avLst>
          </a:prstGeom>
          <a:solidFill>
            <a:srgbClr val="142336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5CA2E0"/>
                </a:solidFill>
                <a:latin typeface="Arial"/>
              </a:rPr>
              <a:t>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6EDF5"/>
                </a:solidFill>
                <a:latin typeface="Arial"/>
              </a:rPr>
              <a:t>Organizer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watches the run live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34300" y="2000250"/>
            <a:ext cx="5953125" cy="3810000"/>
          </a:xfrm>
          <a:prstGeom prst="roundRect">
            <a:avLst>
              <a:gd name="adj" fmla="val 2500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810500" y="2076450"/>
            <a:ext cx="5800725" cy="685800"/>
          </a:xfrm>
          <a:prstGeom prst="roundRect">
            <a:avLst>
              <a:gd name="adj" fmla="val 8333"/>
            </a:avLst>
          </a:prstGeom>
          <a:solidFill>
            <a:srgbClr val="121E2E"/>
          </a:solidFill>
          <a:ln w="12700">
            <a:solidFill>
              <a:srgbClr val="3F6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7820025" y="2095500"/>
            <a:ext cx="0" cy="647700"/>
          </a:xfrm>
          <a:prstGeom prst="line">
            <a:avLst/>
          </a:prstGeom>
          <a:ln w="40640">
            <a:solidFill>
              <a:srgbClr val="3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867650" y="2076450"/>
            <a:ext cx="5715000" cy="685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5CA2E0"/>
                </a:solidFill>
                <a:latin typeface="Arial"/>
              </a:rPr>
              <a:t>Core Platform: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CA2E0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Node.js 22 + TypeScript 5.9</a:t>
            </a:r>
            <a:r>
              <a:rPr sz="825" b="0">
                <a:solidFill>
                  <a:srgbClr val="E6EDF5"/>
                </a:solidFill>
                <a:latin typeface="Arial"/>
              </a:rPr>
              <a:t>: API, game core and scripts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CA2E0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Express 5 + Zod 4</a:t>
            </a:r>
            <a:r>
              <a:rPr sz="825" b="0">
                <a:solidFill>
                  <a:srgbClr val="E6EDF5"/>
                </a:solidFill>
                <a:latin typeface="Arial"/>
              </a:rPr>
              <a:t>: routing, validation and typed errors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10500" y="2819400"/>
            <a:ext cx="5800725" cy="685800"/>
          </a:xfrm>
          <a:prstGeom prst="roundRect">
            <a:avLst>
              <a:gd name="adj" fmla="val 8333"/>
            </a:avLst>
          </a:prstGeom>
          <a:solidFill>
            <a:srgbClr val="121E2E"/>
          </a:solidFill>
          <a:ln w="12700">
            <a:solidFill>
              <a:srgbClr val="9B8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7820025" y="2838450"/>
            <a:ext cx="0" cy="647700"/>
          </a:xfrm>
          <a:prstGeom prst="line">
            <a:avLst/>
          </a:prstGeom>
          <a:ln w="4064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867650" y="2819400"/>
            <a:ext cx="5715000" cy="685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8869D3"/>
                </a:solidFill>
                <a:latin typeface="Arial"/>
              </a:rPr>
              <a:t>Data &amp; Cache: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869D3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PostgreSQL 17 + Drizzle ORM</a:t>
            </a:r>
            <a:r>
              <a:rPr sz="825" b="0">
                <a:solidFill>
                  <a:srgbClr val="E6EDF5"/>
                </a:solidFill>
                <a:latin typeface="Arial"/>
              </a:rPr>
              <a:t>: schema and generated migrations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869D3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Redis 7 (ioredis)</a:t>
            </a:r>
            <a:r>
              <a:rPr sz="825" b="0">
                <a:solidFill>
                  <a:srgbClr val="E6EDF5"/>
                </a:solidFill>
                <a:latin typeface="Arial"/>
              </a:rPr>
              <a:t>: leaderboard snapshot and rate limits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10500" y="3562350"/>
            <a:ext cx="5800725" cy="685800"/>
          </a:xfrm>
          <a:prstGeom prst="roundRect">
            <a:avLst>
              <a:gd name="adj" fmla="val 8333"/>
            </a:avLst>
          </a:prstGeom>
          <a:solidFill>
            <a:srgbClr val="121E2E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8" name="Connector 57"/>
          <p:cNvCxnSpPr/>
          <p:nvPr/>
        </p:nvCxnSpPr>
        <p:spPr>
          <a:xfrm>
            <a:off x="7820025" y="3581400"/>
            <a:ext cx="0" cy="647700"/>
          </a:xfrm>
          <a:prstGeom prst="line">
            <a:avLst/>
          </a:prstGeom>
          <a:ln w="40640">
            <a:solidFill>
              <a:srgbClr val="6F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867650" y="3562350"/>
            <a:ext cx="5715000" cy="685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4ED4EE"/>
                </a:solidFill>
                <a:latin typeface="Arial"/>
              </a:rPr>
              <a:t>Real-time &amp; Clients: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4ED4EE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Socket.io 4.8</a:t>
            </a:r>
            <a:r>
              <a:rPr sz="825" b="0">
                <a:solidFill>
                  <a:srgbClr val="E6EDF5"/>
                </a:solidFill>
                <a:latin typeface="Arial"/>
              </a:rPr>
              <a:t>: UPDATE_SCOREBOARD on the API's HTTP server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4ED4EE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React 19 + Vite 8 + React Router 8</a:t>
            </a:r>
            <a:r>
              <a:rPr sz="825" b="0">
                <a:solidFill>
                  <a:srgbClr val="E6EDF5"/>
                </a:solidFill>
                <a:latin typeface="Arial"/>
              </a:rPr>
              <a:t>: player and organizer UIs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10500" y="4305300"/>
            <a:ext cx="5800725" cy="685800"/>
          </a:xfrm>
          <a:prstGeom prst="roundRect">
            <a:avLst>
              <a:gd name="adj" fmla="val 8333"/>
            </a:avLst>
          </a:prstGeom>
          <a:solidFill>
            <a:srgbClr val="121E2E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1" name="Connector 60"/>
          <p:cNvCxnSpPr/>
          <p:nvPr/>
        </p:nvCxnSpPr>
        <p:spPr>
          <a:xfrm>
            <a:off x="7820025" y="4324350"/>
            <a:ext cx="0" cy="647700"/>
          </a:xfrm>
          <a:prstGeom prst="line">
            <a:avLst/>
          </a:prstGeom>
          <a:ln w="4064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867650" y="4305300"/>
            <a:ext cx="5715000" cy="685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EDA34F"/>
                </a:solidFill>
                <a:latin typeface="Arial"/>
              </a:rPr>
              <a:t>Security &amp; Testing: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EDA34F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Argon2id, JWT, Helmet, HMAC flags</a:t>
            </a:r>
            <a:r>
              <a:rPr sz="825" b="0">
                <a:solidFill>
                  <a:srgbClr val="E6EDF5"/>
                </a:solidFill>
                <a:latin typeface="Arial"/>
              </a:rPr>
              <a:t>: auth and flag storage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EDA34F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Vitest + Supertest</a:t>
            </a:r>
            <a:r>
              <a:rPr sz="825" b="0">
                <a:solidFill>
                  <a:srgbClr val="E6EDF5"/>
                </a:solidFill>
                <a:latin typeface="Arial"/>
              </a:rPr>
              <a:t>: 64 integration tests against real services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10500" y="5048250"/>
            <a:ext cx="5800725" cy="685800"/>
          </a:xfrm>
          <a:prstGeom prst="roundRect">
            <a:avLst>
              <a:gd name="adj" fmla="val 8333"/>
            </a:avLst>
          </a:prstGeom>
          <a:solidFill>
            <a:srgbClr val="121E2E"/>
          </a:solidFill>
          <a:ln w="12700">
            <a:solidFill>
              <a:srgbClr val="6CA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7820025" y="5067300"/>
            <a:ext cx="0" cy="647700"/>
          </a:xfrm>
          <a:prstGeom prst="line">
            <a:avLst/>
          </a:prstGeom>
          <a:ln w="40640">
            <a:solidFill>
              <a:srgbClr val="6CA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867650" y="5048250"/>
            <a:ext cx="5715000" cy="685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92D369"/>
                </a:solidFill>
                <a:latin typeface="Arial"/>
              </a:rPr>
              <a:t>Infrastructure: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92D369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Docker Compose</a:t>
            </a:r>
            <a:r>
              <a:rPr sz="825" b="0">
                <a:solidFill>
                  <a:srgbClr val="E6EDF5"/>
                </a:solidFill>
                <a:latin typeface="Arial"/>
              </a:rPr>
              <a:t>: Postgres 17 + Redis 7 with health checks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92D369"/>
                </a:solidFill>
                <a:latin typeface="Arial"/>
              </a:rPr>
              <a:t>●  </a:t>
            </a:r>
            <a:r>
              <a:rPr sz="825" b="1">
                <a:solidFill>
                  <a:srgbClr val="E6EDF5"/>
                </a:solidFill>
                <a:latin typeface="Arial"/>
              </a:rPr>
              <a:t>Free-tier deploy</a:t>
            </a:r>
            <a:r>
              <a:rPr sz="825" b="0">
                <a:solidFill>
                  <a:srgbClr val="E6EDF5"/>
                </a:solidFill>
                <a:latin typeface="Arial"/>
              </a:rPr>
              <a:t>: static client, container API, managed data stores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34300" y="5924550"/>
            <a:ext cx="5953125" cy="14478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829550" y="60198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92D369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Node.js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82075" y="60198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F74C0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TypeScript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34600" y="60198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8A8CE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React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287125" y="60198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8E5CD9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Vite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439650" y="60198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6EDF5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Express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29550" y="66675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CA2E0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PostgreSQL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82075" y="66675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392B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Redis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34600" y="66675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6EDF5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Socket.io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287125" y="66675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D91D0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Docker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439650" y="6667500"/>
            <a:ext cx="1076325" cy="571500"/>
          </a:xfrm>
          <a:prstGeom prst="roundRect">
            <a:avLst>
              <a:gd name="adj" fmla="val 10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CDE5E"/>
                </a:solidFill>
                <a:latin typeface="Arial"/>
              </a:rPr>
              <a:t>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Vitest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14300"/>
            <a:ext cx="1238250" cy="819150"/>
          </a:xfrm>
          <a:prstGeom prst="roundRect">
            <a:avLst>
              <a:gd name="adj" fmla="val 16279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47650"/>
            <a:ext cx="99060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1150" y="228600"/>
            <a:ext cx="2857500" cy="4762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50" b="1">
                <a:solidFill>
                  <a:srgbClr val="E6EDF5"/>
                </a:solidFill>
                <a:latin typeface="Arial"/>
              </a:rPr>
              <a:t>FLAG</a:t>
            </a:r>
            <a:r>
              <a:rPr sz="2250" b="1">
                <a:solidFill>
                  <a:srgbClr val="1796DE"/>
                </a:solidFill>
                <a:latin typeface="Arial"/>
              </a:rPr>
              <a:t>FORGE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82400" y="133350"/>
            <a:ext cx="2038350" cy="800100"/>
          </a:xfrm>
          <a:prstGeom prst="roundRect">
            <a:avLst>
              <a:gd name="adj" fmla="val 14285"/>
            </a:avLst>
          </a:prstGeom>
          <a:solidFill>
            <a:srgbClr val="121E2E"/>
          </a:solidFill>
          <a:ln w="22225">
            <a:solidFill>
              <a:srgbClr val="3B6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582400" y="133350"/>
            <a:ext cx="2038350" cy="8001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8FA3B8"/>
                </a:solidFill>
                <a:latin typeface="Arial"/>
              </a:rPr>
              <a:t>RELEASE  1.0   ·   2026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FORGE YOUR CTF.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1796DE"/>
                </a:solidFill>
                <a:latin typeface="Arial"/>
              </a:rPr>
              <a:t>CHALLENGE YOUR HACKERS.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0" y="133350"/>
            <a:ext cx="7581900" cy="914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50" b="1">
                <a:solidFill>
                  <a:srgbClr val="E6EDF5"/>
                </a:solidFill>
                <a:latin typeface="Arial"/>
              </a:rPr>
              <a:t>TECHNICAL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FFFFFF"/>
                </a:solidFill>
                <a:latin typeface="Arial"/>
              </a:rPr>
              <a:t>FlagForge   ·   Forge your CTF. Challenge your hackers.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0" y="7524750"/>
            <a:ext cx="8001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7620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1314450"/>
            <a:ext cx="5715000" cy="514350"/>
          </a:xfrm>
          <a:prstGeom prst="roundRect">
            <a:avLst>
              <a:gd name="adj" fmla="val 22222"/>
            </a:avLst>
          </a:prstGeom>
          <a:solidFill>
            <a:srgbClr val="142E36"/>
          </a:solidFill>
          <a:ln w="15875">
            <a:solidFill>
              <a:srgbClr val="7C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7250" y="1314450"/>
            <a:ext cx="5715000" cy="5143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E6EDF5"/>
                </a:solidFill>
                <a:latin typeface="Arial"/>
              </a:rPr>
              <a:t>WORKFLOW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9075" y="1314450"/>
            <a:ext cx="5753100" cy="514350"/>
          </a:xfrm>
          <a:prstGeom prst="roundRect">
            <a:avLst>
              <a:gd name="adj" fmla="val 22222"/>
            </a:avLst>
          </a:prstGeom>
          <a:solidFill>
            <a:srgbClr val="361420"/>
          </a:solidFill>
          <a:ln w="15875">
            <a:solidFill>
              <a:srgbClr val="E3A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39075" y="1314450"/>
            <a:ext cx="5753100" cy="5143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E6EDF5"/>
                </a:solidFill>
                <a:latin typeface="Arial"/>
              </a:rPr>
              <a:t>END-TO-END REQUEST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" y="1962150"/>
            <a:ext cx="1752600" cy="1657350"/>
          </a:xfrm>
          <a:prstGeom prst="roundRect">
            <a:avLst>
              <a:gd name="adj" fmla="val 4597"/>
            </a:avLst>
          </a:prstGeom>
          <a:solidFill>
            <a:srgbClr val="142536"/>
          </a:solidFill>
          <a:ln w="13970">
            <a:solidFill>
              <a:srgbClr val="A9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52400" y="1962150"/>
            <a:ext cx="175260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5CA2E0"/>
                </a:solidFill>
                <a:latin typeface="Arial"/>
              </a:rPr>
              <a:t>01 · INPUT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7650" y="2209800"/>
            <a:ext cx="1562100" cy="400050"/>
          </a:xfrm>
          <a:prstGeom prst="roundRect">
            <a:avLst>
              <a:gd name="adj" fmla="val 11904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Organizer input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event + challenge 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7650" y="2686050"/>
            <a:ext cx="1562100" cy="400050"/>
          </a:xfrm>
          <a:prstGeom prst="roundRect">
            <a:avLst>
              <a:gd name="adj" fmla="val 11904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Player input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flag submission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7650" y="3162300"/>
            <a:ext cx="1562100" cy="381000"/>
          </a:xfrm>
          <a:prstGeom prst="roundRect">
            <a:avLst>
              <a:gd name="adj" fmla="val 125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Seed / demo data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db:seed 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00250" y="1962150"/>
            <a:ext cx="5295900" cy="1657350"/>
          </a:xfrm>
          <a:prstGeom prst="roundRect">
            <a:avLst>
              <a:gd name="adj" fmla="val 4597"/>
            </a:avLst>
          </a:prstGeom>
          <a:solidFill>
            <a:srgbClr val="361426"/>
          </a:solidFill>
          <a:ln w="1397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000250" y="1962150"/>
            <a:ext cx="529590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D369A3"/>
                </a:solidFill>
                <a:latin typeface="Arial"/>
              </a:rPr>
              <a:t>02 · AUTH, VALIDATION &amp; RATE LIMIT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2247900"/>
            <a:ext cx="962025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Argon2id verify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33725" y="2247900"/>
            <a:ext cx="962025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JWT HS256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issue + decode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71950" y="2247900"/>
            <a:ext cx="962025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Role / ownership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player vs organizer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0175" y="2247900"/>
            <a:ext cx="962025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Zod 4 schema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typed 400s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400" y="2247900"/>
            <a:ext cx="962025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Redis limiter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429 + Retry-After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95500" y="2971800"/>
            <a:ext cx="5105400" cy="533400"/>
          </a:xfrm>
          <a:prstGeom prst="roundRect">
            <a:avLst>
              <a:gd name="adj" fmla="val 8928"/>
            </a:avLst>
          </a:prstGeom>
          <a:solidFill>
            <a:srgbClr val="36141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Rejected early — no database work is done for an unauthenticated, invalid or rate-limited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91400" y="1962150"/>
            <a:ext cx="3543300" cy="1657350"/>
          </a:xfrm>
          <a:prstGeom prst="roundRect">
            <a:avLst>
              <a:gd name="adj" fmla="val 4597"/>
            </a:avLst>
          </a:prstGeom>
          <a:solidFill>
            <a:srgbClr val="1F1436"/>
          </a:solidFill>
          <a:ln w="1397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91400" y="1962150"/>
            <a:ext cx="354330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8869D3"/>
                </a:solidFill>
                <a:latin typeface="Arial"/>
              </a:rPr>
              <a:t>03 · EVENT &amp; CHALLENGE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6650" y="2228850"/>
            <a:ext cx="1657350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Event CRUD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window · phase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20200" y="2228850"/>
            <a:ext cx="1657350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Challenge CRUD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Markdown · category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6650" y="2914650"/>
            <a:ext cx="1657350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Attachment upload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multer · size cap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20200" y="2914650"/>
            <a:ext cx="1657350" cy="609600"/>
          </a:xfrm>
          <a:prstGeom prst="roundRect">
            <a:avLst>
              <a:gd name="adj" fmla="val 781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Publish gate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hidden until ready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2400" y="3733800"/>
            <a:ext cx="7143750" cy="1123950"/>
          </a:xfrm>
          <a:prstGeom prst="roundRect">
            <a:avLst>
              <a:gd name="adj" fmla="val 6779"/>
            </a:avLst>
          </a:prstGeom>
          <a:solidFill>
            <a:srgbClr val="1E3317"/>
          </a:solidFill>
          <a:ln w="13970">
            <a:solidFill>
              <a:srgbClr val="A6C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52400" y="3733800"/>
            <a:ext cx="714375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92D369"/>
                </a:solidFill>
                <a:latin typeface="Arial"/>
              </a:rPr>
              <a:t>04 · SUBMISSION 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7650" y="4000500"/>
            <a:ext cx="13335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Trim &amp; normalise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case-sensitive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57350" y="4000500"/>
            <a:ext cx="13335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HMAC-SHA256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server secret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7050" y="4000500"/>
            <a:ext cx="13335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Constant-time compare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no timing leak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76750" y="4000500"/>
            <a:ext cx="13335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Partial unique index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one solve per team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86450" y="4000500"/>
            <a:ext cx="13335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Result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correct / incorrect / already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91400" y="3733800"/>
            <a:ext cx="3543300" cy="1123950"/>
          </a:xfrm>
          <a:prstGeom prst="roundRect">
            <a:avLst>
              <a:gd name="adj" fmla="val 6779"/>
            </a:avLst>
          </a:prstGeom>
          <a:solidFill>
            <a:srgbClr val="362814"/>
          </a:solidFill>
          <a:ln w="13970">
            <a:solidFill>
              <a:srgbClr val="E8B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91400" y="3733800"/>
            <a:ext cx="354330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DA34F"/>
                </a:solidFill>
                <a:latin typeface="Arial"/>
              </a:rPr>
              <a:t>05 · SCORING ENGINE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86650" y="4000500"/>
            <a:ext cx="10668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Solve count 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after first blood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29650" y="4000500"/>
            <a:ext cx="10668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value(n) curve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500 → 100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72650" y="4000500"/>
            <a:ext cx="1066800" cy="723900"/>
          </a:xfrm>
          <a:prstGeom prst="roundRect">
            <a:avLst>
              <a:gd name="adj" fmla="val 657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E6EDF5"/>
                </a:solidFill>
                <a:latin typeface="Arial"/>
              </a:rPr>
              <a:t>Packed rank key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8FA3B8"/>
                </a:solidFill>
                <a:latin typeface="Arial"/>
              </a:rPr>
              <a:t>pts×2²² − secs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2400" y="4972050"/>
            <a:ext cx="5295900" cy="2286000"/>
          </a:xfrm>
          <a:prstGeom prst="roundRect">
            <a:avLst>
              <a:gd name="adj" fmla="val 3333"/>
            </a:avLst>
          </a:prstGeom>
          <a:solidFill>
            <a:srgbClr val="361414"/>
          </a:solidFill>
          <a:ln w="13970">
            <a:solidFill>
              <a:srgbClr val="E2A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52400" y="4972050"/>
            <a:ext cx="529590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D36F69"/>
                </a:solidFill>
                <a:latin typeface="Arial"/>
              </a:rPr>
              <a:t>06 · LEADERBOARD CACHE (REDIS)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7650" y="5238750"/>
            <a:ext cx="5105400" cy="438150"/>
          </a:xfrm>
          <a:prstGeom prst="roundRect">
            <a:avLst>
              <a:gd name="adj" fmla="val 10869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scoreboard:&lt;id&gt;:rank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sorted set · teamId → packed score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7650" y="5734050"/>
            <a:ext cx="5105400" cy="438150"/>
          </a:xfrm>
          <a:prstGeom prst="roundRect">
            <a:avLst>
              <a:gd name="adj" fmla="val 10869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scoreboard:&lt;id&gt;:teams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hash · teamId → row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7650" y="6229350"/>
            <a:ext cx="5105400" cy="438150"/>
          </a:xfrm>
          <a:prstGeom prst="roundRect">
            <a:avLst>
              <a:gd name="adj" fmla="val 10869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scoreboard:&lt;id&gt;:meta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challenge values · revision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7650" y="6762750"/>
            <a:ext cx="2495550" cy="419100"/>
          </a:xfrm>
          <a:prstGeom prst="roundRect">
            <a:avLst>
              <a:gd name="adj" fmla="val 11363"/>
            </a:avLst>
          </a:prstGeom>
          <a:solidFill>
            <a:srgbClr val="361414"/>
          </a:solidFill>
          <a:ln w="12700">
            <a:solidFill>
              <a:srgbClr val="E2A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Atomic Lua rebuild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readers never see half a 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57500" y="6762750"/>
            <a:ext cx="2495550" cy="419100"/>
          </a:xfrm>
          <a:prstGeom prst="roundRect">
            <a:avLst>
              <a:gd name="adj" fmla="val 11363"/>
            </a:avLst>
          </a:prstGeom>
          <a:solidFill>
            <a:srgbClr val="361414"/>
          </a:solidFill>
          <a:ln w="12700">
            <a:solidFill>
              <a:srgbClr val="E2A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Revision guard + 5 min TTL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a stale rebuild is skipped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43550" y="4972050"/>
            <a:ext cx="5391150" cy="2286000"/>
          </a:xfrm>
          <a:prstGeom prst="roundRect">
            <a:avLst>
              <a:gd name="adj" fmla="val 3333"/>
            </a:avLst>
          </a:prstGeom>
          <a:solidFill>
            <a:srgbClr val="143036"/>
          </a:solidFill>
          <a:ln w="13970">
            <a:solidFill>
              <a:srgbClr val="86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543550" y="4972050"/>
            <a:ext cx="539115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4ED4EE"/>
                </a:solidFill>
                <a:latin typeface="Arial"/>
              </a:rPr>
              <a:t>07 · DELIVERY LAYER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38800" y="5238750"/>
            <a:ext cx="1695450" cy="666750"/>
          </a:xfrm>
          <a:prstGeom prst="roundRect">
            <a:avLst>
              <a:gd name="adj" fmla="val 714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Socket.io push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one message per solve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10450" y="5238750"/>
            <a:ext cx="1695450" cy="666750"/>
          </a:xfrm>
          <a:prstGeom prst="roundRect">
            <a:avLst>
              <a:gd name="adj" fmla="val 714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ZREVRANGE + HMGET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page of ranks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2100" y="5238750"/>
            <a:ext cx="1695450" cy="666750"/>
          </a:xfrm>
          <a:prstGeom prst="roundRect">
            <a:avLst>
              <a:gd name="adj" fmla="val 714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REST fallback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HTTP read, same shape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38800" y="6019800"/>
            <a:ext cx="1695450" cy="666750"/>
          </a:xfrm>
          <a:prstGeom prst="roundRect">
            <a:avLst>
              <a:gd name="adj" fmla="val 714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Standings table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rank · solves · last solve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10450" y="6019800"/>
            <a:ext cx="1695450" cy="666750"/>
          </a:xfrm>
          <a:prstGeom prst="roundRect">
            <a:avLst>
              <a:gd name="adj" fmla="val 714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Rank-over-time graph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stepped SVG, top 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82100" y="6019800"/>
            <a:ext cx="1695450" cy="666750"/>
          </a:xfrm>
          <a:prstGeom prst="roundRect">
            <a:avLst>
              <a:gd name="adj" fmla="val 7142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Challenge values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live points · first blood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38800" y="6781800"/>
            <a:ext cx="5238750" cy="400050"/>
          </a:xfrm>
          <a:prstGeom prst="roundRect">
            <a:avLst>
              <a:gd name="adj" fmla="val 11904"/>
            </a:avLst>
          </a:prstGeom>
          <a:solidFill>
            <a:srgbClr val="153531"/>
          </a:solidFill>
          <a:ln w="12700">
            <a:solidFill>
              <a:srgbClr val="86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Public scoreboard — spectators watch without an account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029950" y="1962150"/>
            <a:ext cx="2533650" cy="5295900"/>
          </a:xfrm>
          <a:prstGeom prst="roundRect">
            <a:avLst>
              <a:gd name="adj" fmla="val 3007"/>
            </a:avLst>
          </a:prstGeom>
          <a:solidFill>
            <a:srgbClr val="1B252F"/>
          </a:solidFill>
          <a:ln w="13970">
            <a:solidFill>
              <a:srgbClr val="A9B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1029950" y="1962150"/>
            <a:ext cx="2533650" cy="190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69A0D3"/>
                </a:solidFill>
                <a:latin typeface="Arial"/>
              </a:rPr>
              <a:t>08 · EVALUATION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125200" y="222885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64 integration tests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real Postgres + Redis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125200" y="285750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Typecheck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server + both clients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25200" y="348615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Scoreboard read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4 ms from the snapshot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125200" y="411480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Flag submit p95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659 ms at 2,000 teams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25200" y="474345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Load test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2,000 teams · one instance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125200" y="537210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Concurrency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no duplicate solves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125200" y="600075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Rate limiter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per player, all challenges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125200" y="6629400"/>
            <a:ext cx="2343150" cy="533400"/>
          </a:xfrm>
          <a:prstGeom prst="roundRect">
            <a:avLst>
              <a:gd name="adj" fmla="val 8928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Build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production bundles green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905000" y="2762250"/>
            <a:ext cx="95250" cy="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96150" y="2762250"/>
            <a:ext cx="95250" cy="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714750" y="3619500"/>
            <a:ext cx="0" cy="1143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163050" y="3619500"/>
            <a:ext cx="0" cy="1143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296150" y="4286250"/>
            <a:ext cx="95250" cy="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714750" y="4857750"/>
            <a:ext cx="0" cy="1143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163050" y="4857750"/>
            <a:ext cx="0" cy="11430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448300" y="6096000"/>
            <a:ext cx="95250" cy="0"/>
          </a:xfrm>
          <a:prstGeom prst="line">
            <a:avLst/>
          </a:prstGeom>
          <a:ln w="15240">
            <a:solidFill>
              <a:srgbClr val="223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14300"/>
            <a:ext cx="1238250" cy="819150"/>
          </a:xfrm>
          <a:prstGeom prst="roundRect">
            <a:avLst>
              <a:gd name="adj" fmla="val 16279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47650"/>
            <a:ext cx="99060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1150" y="228600"/>
            <a:ext cx="2857500" cy="4762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50" b="1">
                <a:solidFill>
                  <a:srgbClr val="E6EDF5"/>
                </a:solidFill>
                <a:latin typeface="Arial"/>
              </a:rPr>
              <a:t>FLAG</a:t>
            </a:r>
            <a:r>
              <a:rPr sz="2250" b="1">
                <a:solidFill>
                  <a:srgbClr val="1796DE"/>
                </a:solidFill>
                <a:latin typeface="Arial"/>
              </a:rPr>
              <a:t>FORGE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82400" y="133350"/>
            <a:ext cx="2038350" cy="800100"/>
          </a:xfrm>
          <a:prstGeom prst="roundRect">
            <a:avLst>
              <a:gd name="adj" fmla="val 14285"/>
            </a:avLst>
          </a:prstGeom>
          <a:solidFill>
            <a:srgbClr val="121E2E"/>
          </a:solidFill>
          <a:ln w="22225">
            <a:solidFill>
              <a:srgbClr val="3B6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582400" y="133350"/>
            <a:ext cx="2038350" cy="8001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8FA3B8"/>
                </a:solidFill>
                <a:latin typeface="Arial"/>
              </a:rPr>
              <a:t>RELEASE  1.0   ·   2026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FORGE YOUR CTF.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1796DE"/>
                </a:solidFill>
                <a:latin typeface="Arial"/>
              </a:rPr>
              <a:t>CHALLENGE YOUR HACKERS.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0" y="133350"/>
            <a:ext cx="7581900" cy="914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50" b="1">
                <a:solidFill>
                  <a:srgbClr val="E6EDF5"/>
                </a:solidFill>
                <a:latin typeface="Arial"/>
              </a:rPr>
              <a:t>TECHNICAL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FFFFFF"/>
                </a:solidFill>
                <a:latin typeface="Arial"/>
              </a:rPr>
              <a:t>FlagForge   ·   Forge your CTF. Challenge your hackers.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0" y="7524750"/>
            <a:ext cx="8001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7620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350" y="1219200"/>
            <a:ext cx="6667500" cy="2876550"/>
          </a:xfrm>
          <a:prstGeom prst="roundRect">
            <a:avLst>
              <a:gd name="adj" fmla="val 3311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750" y="1295400"/>
            <a:ext cx="4572000" cy="2095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score over time · points · one stepped line per team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2950" y="3714750"/>
            <a:ext cx="5791200" cy="0"/>
          </a:xfrm>
          <a:prstGeom prst="line">
            <a:avLst/>
          </a:prstGeom>
          <a:ln w="12700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2950" y="1638300"/>
            <a:ext cx="0" cy="2076450"/>
          </a:xfrm>
          <a:prstGeom prst="line">
            <a:avLst/>
          </a:prstGeom>
          <a:ln w="12700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2950" y="3714750"/>
            <a:ext cx="5791200" cy="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" y="3629025"/>
            <a:ext cx="476250" cy="1714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3195638"/>
            <a:ext cx="5791200" cy="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" y="3109912"/>
            <a:ext cx="476250" cy="1714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800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2950" y="2676525"/>
            <a:ext cx="5791200" cy="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" y="2590800"/>
            <a:ext cx="476250" cy="1714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1,600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2950" y="2157412"/>
            <a:ext cx="5791200" cy="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8600" y="2071688"/>
            <a:ext cx="476250" cy="1714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2,400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2950" y="1638300"/>
            <a:ext cx="5791200" cy="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" y="1552575"/>
            <a:ext cx="476250" cy="1714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3,200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50" y="3743325"/>
            <a:ext cx="4572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2150" y="3743325"/>
            <a:ext cx="4572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9950" y="3743325"/>
            <a:ext cx="4572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750" y="3743325"/>
            <a:ext cx="4572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3743325"/>
            <a:ext cx="4572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100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2950" y="3714750"/>
            <a:ext cx="0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2950" y="3714750"/>
            <a:ext cx="463296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206246" y="3403282"/>
            <a:ext cx="0" cy="311468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06246" y="3403282"/>
            <a:ext cx="752856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959102" y="3091815"/>
            <a:ext cx="0" cy="311467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59102" y="3091815"/>
            <a:ext cx="752856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11958" y="2793325"/>
            <a:ext cx="0" cy="29849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11958" y="2793325"/>
            <a:ext cx="1042416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754374" y="2494836"/>
            <a:ext cx="0" cy="298489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54374" y="2494836"/>
            <a:ext cx="637032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391406" y="2228790"/>
            <a:ext cx="0" cy="266046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391406" y="2228790"/>
            <a:ext cx="868680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260086" y="1923812"/>
            <a:ext cx="0" cy="304978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60086" y="1923812"/>
            <a:ext cx="984504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244590" y="1651278"/>
            <a:ext cx="0" cy="272534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44590" y="1651278"/>
            <a:ext cx="289560" cy="0"/>
          </a:xfrm>
          <a:prstGeom prst="line">
            <a:avLst/>
          </a:prstGeom>
          <a:ln w="22860">
            <a:solidFill>
              <a:srgbClr val="14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2950" y="3714750"/>
            <a:ext cx="0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2950" y="3714750"/>
            <a:ext cx="694944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437894" y="3416260"/>
            <a:ext cx="0" cy="29849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37894" y="3416260"/>
            <a:ext cx="810768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48662" y="3124260"/>
            <a:ext cx="0" cy="29200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48662" y="3124260"/>
            <a:ext cx="868680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117342" y="2838748"/>
            <a:ext cx="0" cy="285512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17342" y="2838748"/>
            <a:ext cx="984504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101846" y="2572702"/>
            <a:ext cx="0" cy="266046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101846" y="2572702"/>
            <a:ext cx="926592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028438" y="2300168"/>
            <a:ext cx="0" cy="272534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028438" y="2300168"/>
            <a:ext cx="1042416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070854" y="2053590"/>
            <a:ext cx="0" cy="246578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70854" y="2053590"/>
            <a:ext cx="463296" cy="0"/>
          </a:xfrm>
          <a:prstGeom prst="line">
            <a:avLst/>
          </a:prstGeom>
          <a:ln w="22860">
            <a:solidFill>
              <a:srgbClr val="2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42950" y="3714750"/>
            <a:ext cx="0" cy="0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42950" y="3714750"/>
            <a:ext cx="984504" cy="0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727454" y="3429238"/>
            <a:ext cx="0" cy="285512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727454" y="3429238"/>
            <a:ext cx="926592" cy="0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654046" y="3156704"/>
            <a:ext cx="0" cy="272534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654046" y="3156704"/>
            <a:ext cx="926592" cy="0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580638" y="2884170"/>
            <a:ext cx="0" cy="272534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580638" y="2884170"/>
            <a:ext cx="1216152" cy="0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796790" y="2624614"/>
            <a:ext cx="0" cy="259556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796790" y="2624614"/>
            <a:ext cx="1042416" cy="0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839206" y="2378035"/>
            <a:ext cx="0" cy="246579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839206" y="2378035"/>
            <a:ext cx="694944" cy="0"/>
          </a:xfrm>
          <a:prstGeom prst="line">
            <a:avLst/>
          </a:prstGeom>
          <a:ln w="22860">
            <a:solidFill>
              <a:srgbClr val="E08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2950" y="3714750"/>
            <a:ext cx="0" cy="0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42950" y="3714750"/>
            <a:ext cx="1389888" cy="0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132838" y="3442216"/>
            <a:ext cx="0" cy="272534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132838" y="3442216"/>
            <a:ext cx="1216152" cy="0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348990" y="3176171"/>
            <a:ext cx="0" cy="266045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348990" y="3176171"/>
            <a:ext cx="1216152" cy="0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565142" y="2929592"/>
            <a:ext cx="0" cy="246579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565142" y="2929592"/>
            <a:ext cx="1389888" cy="0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955030" y="2689503"/>
            <a:ext cx="0" cy="240089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955030" y="2689503"/>
            <a:ext cx="579120" cy="0"/>
          </a:xfrm>
          <a:prstGeom prst="line">
            <a:avLst/>
          </a:prstGeom>
          <a:ln w="22860">
            <a:solidFill>
              <a:srgbClr val="9B8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4476750" y="1714500"/>
            <a:ext cx="95250" cy="95250"/>
          </a:xfrm>
          <a:prstGeom prst="rect">
            <a:avLst/>
          </a:prstGeom>
          <a:solidFill>
            <a:srgbClr val="0E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29150" y="1657350"/>
            <a:ext cx="857250" cy="1905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E6EDF5"/>
                </a:solidFill>
                <a:latin typeface="Arial"/>
              </a:rPr>
              <a:t>Team 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76750" y="1885950"/>
            <a:ext cx="95250" cy="95250"/>
          </a:xfrm>
          <a:prstGeom prst="rect">
            <a:avLst/>
          </a:prstGeom>
          <a:solidFill>
            <a:srgbClr val="2F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629150" y="1828800"/>
            <a:ext cx="857250" cy="1905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E6EDF5"/>
                </a:solidFill>
                <a:latin typeface="Arial"/>
              </a:rPr>
              <a:t>Team 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76750" y="2057400"/>
            <a:ext cx="95250" cy="95250"/>
          </a:xfrm>
          <a:prstGeom prst="rect">
            <a:avLst/>
          </a:prstGeom>
          <a:solidFill>
            <a:srgbClr val="E08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629150" y="2000250"/>
            <a:ext cx="857250" cy="1905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E6EDF5"/>
                </a:solidFill>
                <a:latin typeface="Arial"/>
              </a:rPr>
              <a:t>Team 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76750" y="2228850"/>
            <a:ext cx="95250" cy="95250"/>
          </a:xfrm>
          <a:prstGeom prst="rect">
            <a:avLst/>
          </a:prstGeom>
          <a:solidFill>
            <a:srgbClr val="281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629150" y="2171700"/>
            <a:ext cx="857250" cy="1905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E6EDF5"/>
                </a:solidFill>
                <a:latin typeface="Arial"/>
              </a:rPr>
              <a:t>Team 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5750" y="3886200"/>
            <a:ext cx="64770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minutes into the event · 4 teams · every step arrived over the socket, not a refresh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6819900" y="2495550"/>
            <a:ext cx="228600" cy="323850"/>
          </a:xfrm>
          <a:prstGeom prst="rightArrow">
            <a:avLst/>
          </a:prstGeom>
          <a:solidFill>
            <a:srgbClr val="5D8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7086600" y="1219200"/>
            <a:ext cx="6515100" cy="2876550"/>
          </a:xfrm>
          <a:prstGeom prst="roundRect">
            <a:avLst>
              <a:gd name="adj" fmla="val 3311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258050" y="1352550"/>
            <a:ext cx="3810000" cy="2476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4ED4EE"/>
                </a:solidFill>
                <a:latin typeface="Arial"/>
              </a:rPr>
              <a:t>How Dynamic Scoring Works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353300" y="1733550"/>
            <a:ext cx="952500" cy="1009650"/>
          </a:xfrm>
          <a:prstGeom prst="roundRect">
            <a:avLst>
              <a:gd name="adj" fmla="val 6000"/>
            </a:avLst>
          </a:prstGeom>
          <a:solidFill>
            <a:srgbClr val="3F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7353300" y="1733550"/>
            <a:ext cx="952500" cy="10096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FFFFFF"/>
                </a:solidFill>
                <a:latin typeface="Arial"/>
              </a:rPr>
              <a:t>points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77100" y="2800350"/>
            <a:ext cx="1104900" cy="1905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First blood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77100" y="2990850"/>
            <a:ext cx="11049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solve 1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8343900" y="2095500"/>
            <a:ext cx="209550" cy="285750"/>
          </a:xfrm>
          <a:prstGeom prst="rightArrow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8591550" y="1733550"/>
            <a:ext cx="952500" cy="1009650"/>
          </a:xfrm>
          <a:prstGeom prst="roundRect">
            <a:avLst>
              <a:gd name="adj" fmla="val 6000"/>
            </a:avLst>
          </a:prstGeom>
          <a:solidFill>
            <a:srgbClr val="2FA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591550" y="1733550"/>
            <a:ext cx="952500" cy="10096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499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FFFFFF"/>
                </a:solidFill>
                <a:latin typeface="Arial"/>
              </a:rPr>
              <a:t>points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15350" y="2800350"/>
            <a:ext cx="1104900" cy="1905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Tier 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15350" y="2990850"/>
            <a:ext cx="11049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solves 2–6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9582150" y="2095500"/>
            <a:ext cx="209550" cy="285750"/>
          </a:xfrm>
          <a:prstGeom prst="rightArrow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9829800" y="1733550"/>
            <a:ext cx="952500" cy="1009650"/>
          </a:xfrm>
          <a:prstGeom prst="roundRect">
            <a:avLst>
              <a:gd name="adj" fmla="val 6000"/>
            </a:avLst>
          </a:prstGeom>
          <a:solidFill>
            <a:srgbClr val="249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829800" y="1733550"/>
            <a:ext cx="952500" cy="10096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477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FFFFFF"/>
                </a:solidFill>
                <a:latin typeface="Arial"/>
              </a:rPr>
              <a:t>points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753600" y="2800350"/>
            <a:ext cx="1104900" cy="1905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Tier 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53600" y="2990850"/>
            <a:ext cx="11049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solves 7–16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10820400" y="2095500"/>
            <a:ext cx="209550" cy="285750"/>
          </a:xfrm>
          <a:prstGeom prst="rightArrow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11068050" y="1733550"/>
            <a:ext cx="952500" cy="1009650"/>
          </a:xfrm>
          <a:prstGeom prst="roundRect">
            <a:avLst>
              <a:gd name="adj" fmla="val 6000"/>
            </a:avLst>
          </a:prstGeom>
          <a:solidFill>
            <a:srgbClr val="1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1068050" y="1733550"/>
            <a:ext cx="952500" cy="10096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FFFFFF"/>
                </a:solidFill>
                <a:latin typeface="Arial"/>
              </a:rPr>
              <a:t>points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991850" y="2800350"/>
            <a:ext cx="1104900" cy="1905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Tier 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991850" y="2990850"/>
            <a:ext cx="11049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solves 17–26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12058650" y="2095500"/>
            <a:ext cx="209550" cy="285750"/>
          </a:xfrm>
          <a:prstGeom prst="rightArrow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2306300" y="1733550"/>
            <a:ext cx="952500" cy="1009650"/>
          </a:xfrm>
          <a:prstGeom prst="roundRect">
            <a:avLst>
              <a:gd name="adj" fmla="val 6000"/>
            </a:avLst>
          </a:prstGeom>
          <a:solidFill>
            <a:srgbClr val="17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2306300" y="1733550"/>
            <a:ext cx="952500" cy="10096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FFFFFF"/>
                </a:solidFill>
                <a:latin typeface="Arial"/>
              </a:rPr>
              <a:t>points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230100" y="2800350"/>
            <a:ext cx="1104900" cy="1905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E6EDF5"/>
                </a:solidFill>
                <a:latin typeface="Arial"/>
              </a:rPr>
              <a:t>Tier 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230100" y="2990850"/>
            <a:ext cx="11049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solves 27+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258050" y="3295650"/>
            <a:ext cx="2952750" cy="419100"/>
          </a:xfrm>
          <a:prstGeom prst="roundRect">
            <a:avLst>
              <a:gd name="adj" fmla="val 50000"/>
            </a:avLst>
          </a:prstGeom>
          <a:solidFill>
            <a:srgbClr val="143036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4ED4EE"/>
                </a:solidFill>
                <a:latin typeface="Arial"/>
              </a:rPr>
              <a:t>First blood is never devalued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363200" y="3295650"/>
            <a:ext cx="3048000" cy="419100"/>
          </a:xfrm>
          <a:prstGeom prst="roundRect">
            <a:avLst>
              <a:gd name="adj" fmla="val 50000"/>
            </a:avLst>
          </a:prstGeom>
          <a:solidFill>
            <a:srgbClr val="1D1436"/>
          </a:solidFill>
          <a:ln w="12700">
            <a:solidFill>
              <a:srgbClr val="9B8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8869D3"/>
                </a:solidFill>
                <a:latin typeface="Arial"/>
              </a:rPr>
              <a:t>value(n) = 500 + (100−500)(n/25)²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58050" y="3790950"/>
            <a:ext cx="6191250" cy="1905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a late solve pulls down every team already holding it — the board reflects how hard it proved to be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33350" y="4229100"/>
            <a:ext cx="6572250" cy="3143250"/>
          </a:xfrm>
          <a:prstGeom prst="roundRect">
            <a:avLst>
              <a:gd name="adj" fmla="val 3030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04800" y="4381500"/>
            <a:ext cx="4000500" cy="2476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4ED4EE"/>
                </a:solidFill>
                <a:latin typeface="Arial"/>
              </a:rPr>
              <a:t>Why the Scoreboard Stays Fast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23850" y="4743450"/>
            <a:ext cx="1752600" cy="1428750"/>
          </a:xfrm>
          <a:prstGeom prst="roundRect">
            <a:avLst>
              <a:gd name="adj" fmla="val 4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323850" y="4743450"/>
            <a:ext cx="1752600" cy="14287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5"/>
                </a:solidFill>
                <a:latin typeface="Arial"/>
              </a:rPr>
              <a:t>Rebuild from Postgres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cold cache, 2,000 teams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E6EDF5"/>
                </a:solidFill>
                <a:latin typeface="Arial"/>
              </a:rPr>
              <a:t>41 ms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2133600" y="5295900"/>
            <a:ext cx="266700" cy="323850"/>
          </a:xfrm>
          <a:prstGeom prst="rightArrow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2457450" y="4743450"/>
            <a:ext cx="1752600" cy="1428750"/>
          </a:xfrm>
          <a:prstGeom prst="roundRect">
            <a:avLst>
              <a:gd name="adj" fmla="val 4000"/>
            </a:avLst>
          </a:prstGeom>
          <a:solidFill>
            <a:srgbClr val="121E2E"/>
          </a:solidFill>
          <a:ln w="12700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2457450" y="4743450"/>
            <a:ext cx="1752600" cy="14287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5"/>
                </a:solidFill>
                <a:latin typeface="Arial"/>
              </a:rPr>
              <a:t>Redis snapshot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one ZREVRANGE + one HMGET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E6EDF5"/>
                </a:solidFill>
                <a:latin typeface="Arial"/>
              </a:rPr>
              <a:t>4 ms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4267200" y="5295900"/>
            <a:ext cx="266700" cy="323850"/>
          </a:xfrm>
          <a:prstGeom prst="rightArrow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4591050" y="4743450"/>
            <a:ext cx="1752600" cy="1428750"/>
          </a:xfrm>
          <a:prstGeom prst="roundRect">
            <a:avLst>
              <a:gd name="adj" fmla="val 4000"/>
            </a:avLst>
          </a:prstGeom>
          <a:solidFill>
            <a:srgbClr val="0E8C96"/>
          </a:solidFill>
          <a:ln w="12700">
            <a:solidFill>
              <a:srgbClr val="14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4591050" y="4743450"/>
            <a:ext cx="1752600" cy="142875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Socket push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750" b="0">
                <a:solidFill>
                  <a:srgbClr val="FFFFFF"/>
                </a:solidFill>
                <a:latin typeface="Arial"/>
              </a:rPr>
              <a:t>the client is told, not asked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FFFFFF"/>
                </a:solidFill>
                <a:latin typeface="Arial"/>
              </a:rPr>
              <a:t>0 reads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23850" y="6229350"/>
            <a:ext cx="17526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286000" y="6229350"/>
            <a:ext cx="17526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8FA3B8"/>
                </a:solidFill>
                <a:latin typeface="Arial"/>
              </a:rPr>
              <a:t>11 × faster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419600" y="6229350"/>
            <a:ext cx="17526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4EE3EE"/>
                </a:solidFill>
                <a:latin typeface="Arial"/>
              </a:rPr>
              <a:t>no request at all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23850" y="6515100"/>
            <a:ext cx="2762250" cy="419100"/>
          </a:xfrm>
          <a:prstGeom prst="roundRect">
            <a:avLst>
              <a:gd name="adj" fmla="val 50000"/>
            </a:avLst>
          </a:prstGeom>
          <a:solidFill>
            <a:srgbClr val="143036"/>
          </a:solidFill>
          <a:ln w="12700">
            <a:solidFill>
              <a:srgbClr val="6F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ED4EE"/>
                </a:solidFill>
                <a:latin typeface="Arial"/>
              </a:rPr>
              <a:t>Same numbers, no polling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219450" y="6515100"/>
            <a:ext cx="2952750" cy="419100"/>
          </a:xfrm>
          <a:prstGeom prst="roundRect">
            <a:avLst>
              <a:gd name="adj" fmla="val 50000"/>
            </a:avLst>
          </a:prstGeom>
          <a:solidFill>
            <a:srgbClr val="3626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DA34F"/>
                </a:solidFill>
                <a:latin typeface="Arial"/>
              </a:rPr>
              <a:t>Postgres stays the source of truth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23850" y="7029450"/>
            <a:ext cx="6096000" cy="1905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8FA3B8"/>
                </a:solidFill>
                <a:latin typeface="Arial"/>
              </a:rPr>
              <a:t>the cache expires after five minutes and any read can rebuild it from the database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819900" y="4229100"/>
            <a:ext cx="6781800" cy="3143250"/>
          </a:xfrm>
          <a:prstGeom prst="roundRect">
            <a:avLst>
              <a:gd name="adj" fmla="val 3030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7048500" y="4362450"/>
            <a:ext cx="6286500" cy="2286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6EDF5"/>
                </a:solidFill>
                <a:latin typeface="Arial"/>
              </a:rPr>
              <a:t>Scoreboard read holds its shape under load — 2,000-team board, one API process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8096250" y="6705600"/>
            <a:ext cx="5143500" cy="0"/>
          </a:xfrm>
          <a:prstGeom prst="line">
            <a:avLst/>
          </a:prstGeom>
          <a:ln w="12700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096250" y="4762500"/>
            <a:ext cx="0" cy="194310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7810500" y="6724650"/>
            <a:ext cx="5715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1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9382125" y="4762500"/>
            <a:ext cx="0" cy="194310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9096375" y="6724650"/>
            <a:ext cx="5715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10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0668000" y="4762500"/>
            <a:ext cx="0" cy="194310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0382250" y="6724650"/>
            <a:ext cx="5715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100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1953875" y="4762500"/>
            <a:ext cx="0" cy="194310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1668125" y="6724650"/>
            <a:ext cx="5715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1,000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3239750" y="4762500"/>
            <a:ext cx="0" cy="1943100"/>
          </a:xfrm>
          <a:prstGeom prst="line">
            <a:avLst/>
          </a:prstGeom>
          <a:ln w="9525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12954000" y="6724650"/>
            <a:ext cx="571500" cy="152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10,000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53250" y="4781550"/>
            <a:ext cx="1066800" cy="3238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1 reader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no contention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96250" y="4819650"/>
            <a:ext cx="745490" cy="247650"/>
          </a:xfrm>
          <a:prstGeom prst="rect">
            <a:avLst/>
          </a:prstGeom>
          <a:solidFill>
            <a:srgbClr val="0E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917940" y="4819650"/>
            <a:ext cx="1143000" cy="2476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6EDF5"/>
                </a:solidFill>
                <a:latin typeface="Arial"/>
              </a:rPr>
              <a:t>3.8 ms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53250" y="5276850"/>
            <a:ext cx="1066800" cy="3238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25 readers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775 req/s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096250" y="5314950"/>
            <a:ext cx="1912620" cy="247650"/>
          </a:xfrm>
          <a:prstGeom prst="rect">
            <a:avLst/>
          </a:prstGeom>
          <a:solidFill>
            <a:srgbClr val="0E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085070" y="5314950"/>
            <a:ext cx="1143000" cy="2476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6EDF5"/>
                </a:solidFill>
                <a:latin typeface="Arial"/>
              </a:rPr>
              <a:t>31 ms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953250" y="5772150"/>
            <a:ext cx="1066800" cy="3238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100 readers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799 req/s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96250" y="5810250"/>
            <a:ext cx="2688590" cy="247650"/>
          </a:xfrm>
          <a:prstGeom prst="rect">
            <a:avLst/>
          </a:prstGeom>
          <a:solidFill>
            <a:srgbClr val="0E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861040" y="5810250"/>
            <a:ext cx="1143000" cy="2476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6EDF5"/>
                </a:solidFill>
                <a:latin typeface="Arial"/>
              </a:rPr>
              <a:t>123 ms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953250" y="6267450"/>
            <a:ext cx="1066800" cy="3238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200 readers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75" b="0">
                <a:solidFill>
                  <a:srgbClr val="8FA3B8"/>
                </a:solidFill>
                <a:latin typeface="Arial"/>
              </a:rPr>
              <a:t>784 req/s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096250" y="6305550"/>
            <a:ext cx="3082290" cy="247650"/>
          </a:xfrm>
          <a:prstGeom prst="rect">
            <a:avLst/>
          </a:prstGeom>
          <a:solidFill>
            <a:srgbClr val="0E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1254740" y="6305550"/>
            <a:ext cx="1143000" cy="2476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6EDF5"/>
                </a:solidFill>
                <a:latin typeface="Arial"/>
              </a:rPr>
              <a:t>250 ms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096250" y="6896100"/>
            <a:ext cx="5143500" cy="15240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8FA3B8"/>
                </a:solidFill>
                <a:latin typeface="Arial"/>
              </a:rPr>
              <a:t>time to serve one scoreboard request, 2,000 teams (ms, log scale)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048500" y="7067550"/>
            <a:ext cx="6286500" cy="1714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92D369"/>
                </a:solidFill>
                <a:latin typeface="Arial"/>
              </a:rPr>
              <a:t>MEASURED — 2,000 teams, 6,000 solves, zero failures · node load/run.mjs against a production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14300"/>
            <a:ext cx="1238250" cy="819150"/>
          </a:xfrm>
          <a:prstGeom prst="roundRect">
            <a:avLst>
              <a:gd name="adj" fmla="val 16279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47650"/>
            <a:ext cx="99060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1150" y="228600"/>
            <a:ext cx="2857500" cy="4762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50" b="1">
                <a:solidFill>
                  <a:srgbClr val="E6EDF5"/>
                </a:solidFill>
                <a:latin typeface="Arial"/>
              </a:rPr>
              <a:t>FLAG</a:t>
            </a:r>
            <a:r>
              <a:rPr sz="2250" b="1">
                <a:solidFill>
                  <a:srgbClr val="1796DE"/>
                </a:solidFill>
                <a:latin typeface="Arial"/>
              </a:rPr>
              <a:t>FORGE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82400" y="133350"/>
            <a:ext cx="2038350" cy="800100"/>
          </a:xfrm>
          <a:prstGeom prst="roundRect">
            <a:avLst>
              <a:gd name="adj" fmla="val 14285"/>
            </a:avLst>
          </a:prstGeom>
          <a:solidFill>
            <a:srgbClr val="121E2E"/>
          </a:solidFill>
          <a:ln w="22225">
            <a:solidFill>
              <a:srgbClr val="3B6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582400" y="133350"/>
            <a:ext cx="2038350" cy="8001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8FA3B8"/>
                </a:solidFill>
                <a:latin typeface="Arial"/>
              </a:rPr>
              <a:t>RELEASE  1.0   ·   2026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FORGE YOUR CTF.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75" b="1">
                <a:solidFill>
                  <a:srgbClr val="1796DE"/>
                </a:solidFill>
                <a:latin typeface="Arial"/>
              </a:rPr>
              <a:t>CHALLENGE YOUR HACKERS.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0" y="133350"/>
            <a:ext cx="7581900" cy="9144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50" b="1">
                <a:solidFill>
                  <a:srgbClr val="E6EDF5"/>
                </a:solidFill>
                <a:latin typeface="Arial"/>
              </a:rPr>
              <a:t>FEASIBILITY AND VIABILITY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7524750"/>
            <a:ext cx="13716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0">
                <a:solidFill>
                  <a:srgbClr val="FFFFFF"/>
                </a:solidFill>
                <a:latin typeface="Arial"/>
              </a:rPr>
              <a:t>FlagForge   ·   Forge your CTF. Challenge your hackers.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0" y="7524750"/>
            <a:ext cx="8001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7620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0" y="1200150"/>
            <a:ext cx="4400550" cy="6191250"/>
          </a:xfrm>
          <a:prstGeom prst="roundRect">
            <a:avLst>
              <a:gd name="adj" fmla="val 2164"/>
            </a:avLst>
          </a:prstGeom>
          <a:solidFill>
            <a:srgbClr val="192531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250" y="1295400"/>
            <a:ext cx="4400550" cy="4191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 u="sng">
                <a:solidFill>
                  <a:srgbClr val="E6EDF5"/>
                </a:solidFill>
                <a:latin typeface="Arial"/>
              </a:rPr>
              <a:t>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650" y="1809750"/>
            <a:ext cx="1428750" cy="2286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EDF5"/>
                </a:solidFill>
                <a:latin typeface="Arial"/>
              </a:rPr>
              <a:t>Technical:</a:t>
            </a:r>
          </a:p>
        </p:txBody>
      </p:sp>
      <p:sp>
        <p:nvSpPr>
          <p:cNvPr id="14" name="Oval 13"/>
          <p:cNvSpPr/>
          <p:nvPr/>
        </p:nvSpPr>
        <p:spPr>
          <a:xfrm>
            <a:off x="514350" y="2095500"/>
            <a:ext cx="723900" cy="723900"/>
          </a:xfrm>
          <a:prstGeom prst="ellipse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4350" y="2095500"/>
            <a:ext cx="723900" cy="7239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1809750"/>
            <a:ext cx="2686050" cy="14287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Full TypeScript stack, </a:t>
            </a:r>
            <a:r>
              <a:rPr sz="1050" b="1">
                <a:solidFill>
                  <a:srgbClr val="E6EDF5"/>
                </a:solidFill>
                <a:latin typeface="Arial"/>
              </a:rPr>
              <a:t>64 integration tests</a:t>
            </a:r>
            <a:r>
              <a:rPr sz="1050" b="0">
                <a:solidFill>
                  <a:srgbClr val="E6EDF5"/>
                </a:solidFill>
                <a:latin typeface="Arial"/>
              </a:rPr>
              <a:t> green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Scoreboard read </a:t>
            </a:r>
            <a:r>
              <a:rPr sz="1050" b="1">
                <a:solidFill>
                  <a:srgbClr val="E6EDF5"/>
                </a:solidFill>
                <a:latin typeface="Arial"/>
              </a:rPr>
              <a:t>never touches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Socket.io shares the </a:t>
            </a:r>
            <a:r>
              <a:rPr sz="1050" b="1">
                <a:solidFill>
                  <a:srgbClr val="E6EDF5"/>
                </a:solidFill>
                <a:latin typeface="Arial"/>
              </a:rPr>
              <a:t>API's own HTTP server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1500" y="3524250"/>
            <a:ext cx="3619500" cy="0"/>
          </a:xfrm>
          <a:prstGeom prst="line">
            <a:avLst/>
          </a:prstGeom>
          <a:ln w="25400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7650" y="3695700"/>
            <a:ext cx="1428750" cy="2286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EDF5"/>
                </a:solidFill>
                <a:latin typeface="Arial"/>
              </a:rPr>
              <a:t>Operational:</a:t>
            </a:r>
          </a:p>
        </p:txBody>
      </p:sp>
      <p:sp>
        <p:nvSpPr>
          <p:cNvPr id="19" name="Oval 18"/>
          <p:cNvSpPr/>
          <p:nvPr/>
        </p:nvSpPr>
        <p:spPr>
          <a:xfrm>
            <a:off x="514350" y="3981450"/>
            <a:ext cx="723900" cy="723900"/>
          </a:xfrm>
          <a:prstGeom prst="ellipse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4350" y="3981450"/>
            <a:ext cx="723900" cy="7239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FFFFFF"/>
                </a:solidFill>
                <a:latin typeface="Arial"/>
              </a:rPr>
              <a:t>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6400" y="3695700"/>
            <a:ext cx="2686050" cy="14287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An event is live in </a:t>
            </a:r>
            <a:r>
              <a:rPr sz="1050" b="1">
                <a:solidFill>
                  <a:srgbClr val="E6EDF5"/>
                </a:solidFill>
                <a:latin typeface="Arial"/>
              </a:rPr>
              <a:t>under five minutes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Public scoreboard </a:t>
            </a:r>
            <a:r>
              <a:rPr sz="1050" b="1">
                <a:solidFill>
                  <a:srgbClr val="E6EDF5"/>
                </a:solidFill>
                <a:latin typeface="Arial"/>
              </a:rPr>
              <a:t>needs no account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One </a:t>
            </a:r>
            <a:r>
              <a:rPr sz="1050" b="1">
                <a:solidFill>
                  <a:srgbClr val="E6EDF5"/>
                </a:solidFill>
                <a:latin typeface="Arial"/>
              </a:rPr>
              <a:t>docker compose up</a:t>
            </a:r>
            <a:r>
              <a:rPr sz="1050" b="0">
                <a:solidFill>
                  <a:srgbClr val="E6EDF5"/>
                </a:solidFill>
                <a:latin typeface="Arial"/>
              </a:rPr>
              <a:t> for the whole stack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1500" y="5410200"/>
            <a:ext cx="3619500" cy="0"/>
          </a:xfrm>
          <a:prstGeom prst="line">
            <a:avLst/>
          </a:prstGeom>
          <a:ln w="25400">
            <a:solidFill>
              <a:srgbClr val="223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7650" y="5581650"/>
            <a:ext cx="1428750" cy="22860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6EDF5"/>
                </a:solidFill>
                <a:latin typeface="Arial"/>
              </a:rPr>
              <a:t>Economic:</a:t>
            </a:r>
          </a:p>
        </p:txBody>
      </p:sp>
      <p:sp>
        <p:nvSpPr>
          <p:cNvPr id="24" name="Oval 23"/>
          <p:cNvSpPr/>
          <p:nvPr/>
        </p:nvSpPr>
        <p:spPr>
          <a:xfrm>
            <a:off x="514350" y="5867400"/>
            <a:ext cx="723900" cy="723900"/>
          </a:xfrm>
          <a:prstGeom prst="ellipse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4350" y="5867400"/>
            <a:ext cx="723900" cy="7239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50" b="1">
                <a:solidFill>
                  <a:srgbClr val="FFFFFF"/>
                </a:solidFill>
                <a:latin typeface="Arial"/>
              </a:rPr>
              <a:t>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5581650"/>
            <a:ext cx="2686050" cy="14287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1">
                <a:solidFill>
                  <a:srgbClr val="E6EDF5"/>
                </a:solidFill>
                <a:latin typeface="Arial"/>
              </a:rPr>
              <a:t>Zero licensing cost</a:t>
            </a:r>
            <a:r>
              <a:rPr sz="1050" b="0">
                <a:solidFill>
                  <a:srgbClr val="E6EDF5"/>
                </a:solidFill>
                <a:latin typeface="Arial"/>
              </a:rPr>
              <a:t>, fully open source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Runs on </a:t>
            </a:r>
            <a:r>
              <a:rPr sz="1050" b="1">
                <a:solidFill>
                  <a:srgbClr val="E6EDF5"/>
                </a:solidFill>
                <a:latin typeface="Arial"/>
              </a:rPr>
              <a:t>free-tier hosting</a:t>
            </a:r>
            <a:r>
              <a:rPr sz="1050" b="0">
                <a:solidFill>
                  <a:srgbClr val="E6EDF5"/>
                </a:solidFill>
                <a:latin typeface="Arial"/>
              </a:rPr>
              <a:t> end to end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75" b="0">
                <a:solidFill>
                  <a:srgbClr val="E6EDF5"/>
                </a:solidFill>
                <a:latin typeface="Arial"/>
              </a:rPr>
              <a:t>•  </a:t>
            </a:r>
            <a:r>
              <a:rPr sz="1050" b="0">
                <a:solidFill>
                  <a:srgbClr val="E6EDF5"/>
                </a:solidFill>
                <a:latin typeface="Arial"/>
              </a:rPr>
              <a:t>No ops team — </a:t>
            </a:r>
            <a:r>
              <a:rPr sz="1050" b="1">
                <a:solidFill>
                  <a:srgbClr val="E6EDF5"/>
                </a:solidFill>
                <a:latin typeface="Arial"/>
              </a:rPr>
              <a:t>migrate, seed, 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0100" y="1200150"/>
            <a:ext cx="9010650" cy="6191250"/>
          </a:xfrm>
          <a:prstGeom prst="roundRect">
            <a:avLst>
              <a:gd name="adj" fmla="val 1538"/>
            </a:avLst>
          </a:prstGeom>
          <a:solidFill>
            <a:srgbClr val="121E2E"/>
          </a:solidFill>
          <a:ln w="1587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62500" y="1333500"/>
            <a:ext cx="2381250" cy="571500"/>
          </a:xfrm>
          <a:prstGeom prst="roundRect">
            <a:avLst>
              <a:gd name="adj" fmla="val 16666"/>
            </a:avLst>
          </a:prstGeom>
          <a:solidFill>
            <a:srgbClr val="142436"/>
          </a:solidFill>
          <a:ln w="15875">
            <a:solidFill>
              <a:srgbClr val="3F6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62500" y="1333500"/>
            <a:ext cx="2381250" cy="571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E6EDF5"/>
                </a:solidFill>
                <a:latin typeface="Arial"/>
              </a:rPr>
              <a:t>Challenges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24750" y="1333500"/>
            <a:ext cx="2857500" cy="571500"/>
          </a:xfrm>
          <a:prstGeom prst="roundRect">
            <a:avLst>
              <a:gd name="adj" fmla="val 16666"/>
            </a:avLst>
          </a:prstGeom>
          <a:solidFill>
            <a:srgbClr val="142436"/>
          </a:solidFill>
          <a:ln w="15875">
            <a:solidFill>
              <a:srgbClr val="3F6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524750" y="1333500"/>
            <a:ext cx="2857500" cy="571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E6EDF5"/>
                </a:solidFill>
                <a:latin typeface="Arial"/>
              </a:rPr>
              <a:t>Solutions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63250" y="1333500"/>
            <a:ext cx="2705100" cy="571500"/>
          </a:xfrm>
          <a:prstGeom prst="roundRect">
            <a:avLst>
              <a:gd name="adj" fmla="val 16666"/>
            </a:avLst>
          </a:prstGeom>
          <a:solidFill>
            <a:srgbClr val="142436"/>
          </a:solidFill>
          <a:ln w="15875">
            <a:solidFill>
              <a:srgbClr val="3F6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763250" y="1333500"/>
            <a:ext cx="2705100" cy="5715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E6EDF5"/>
                </a:solidFill>
                <a:latin typeface="Arial"/>
              </a:rPr>
              <a:t>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62500" y="2038350"/>
            <a:ext cx="2762250" cy="723900"/>
          </a:xfrm>
          <a:prstGeom prst="roundRect">
            <a:avLst>
              <a:gd name="adj" fmla="val 7894"/>
            </a:avLst>
          </a:prstGeom>
          <a:solidFill>
            <a:srgbClr val="3623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Scoreboard read storm in the final minutes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581900" y="2209800"/>
            <a:ext cx="514350" cy="381000"/>
          </a:xfrm>
          <a:prstGeom prst="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53400" y="2038350"/>
            <a:ext cx="2857500" cy="723900"/>
          </a:xfrm>
          <a:prstGeom prst="roundRect">
            <a:avLst>
              <a:gd name="adj" fmla="val 7894"/>
            </a:avLst>
          </a:prstGeom>
          <a:solidFill>
            <a:srgbClr val="163428"/>
          </a:solidFill>
          <a:ln w="12700">
            <a:solidFill>
              <a:srgbClr val="7DC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Redis sorted-set snapshot, rebuilt once per solve</a:t>
            </a:r>
          </a:p>
        </p:txBody>
      </p:sp>
      <p:sp>
        <p:nvSpPr>
          <p:cNvPr id="37" name="Left-Right Arrow 36"/>
          <p:cNvSpPr/>
          <p:nvPr/>
        </p:nvSpPr>
        <p:spPr>
          <a:xfrm>
            <a:off x="11049000" y="2247900"/>
            <a:ext cx="342900" cy="304800"/>
          </a:xfrm>
          <a:prstGeom prst="left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430000" y="2038350"/>
            <a:ext cx="2057400" cy="723900"/>
          </a:xfrm>
          <a:prstGeom prst="roundRect">
            <a:avLst>
              <a:gd name="adj" fmla="val 7894"/>
            </a:avLst>
          </a:prstGeom>
          <a:solidFill>
            <a:srgbClr val="3627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4 ms per read — ZREVRANGE + one HMGET, Postgres untouched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62500" y="2857500"/>
            <a:ext cx="2762250" cy="723900"/>
          </a:xfrm>
          <a:prstGeom prst="roundRect">
            <a:avLst>
              <a:gd name="adj" fmla="val 7894"/>
            </a:avLst>
          </a:prstGeom>
          <a:solidFill>
            <a:srgbClr val="3623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Flag brute-forcing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581900" y="3028950"/>
            <a:ext cx="514350" cy="381000"/>
          </a:xfrm>
          <a:prstGeom prst="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153400" y="2857500"/>
            <a:ext cx="2857500" cy="723900"/>
          </a:xfrm>
          <a:prstGeom prst="roundRect">
            <a:avLst>
              <a:gd name="adj" fmla="val 7894"/>
            </a:avLst>
          </a:prstGeom>
          <a:solidFill>
            <a:srgbClr val="163428"/>
          </a:solidFill>
          <a:ln w="12700">
            <a:solidFill>
              <a:srgbClr val="7DC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Sliding-window limiter before any database work</a:t>
            </a:r>
          </a:p>
        </p:txBody>
      </p:sp>
      <p:sp>
        <p:nvSpPr>
          <p:cNvPr id="42" name="Left-Right Arrow 41"/>
          <p:cNvSpPr/>
          <p:nvPr/>
        </p:nvSpPr>
        <p:spPr>
          <a:xfrm>
            <a:off x="11049000" y="3067050"/>
            <a:ext cx="342900" cy="304800"/>
          </a:xfrm>
          <a:prstGeom prst="left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1430000" y="2857500"/>
            <a:ext cx="2057400" cy="723900"/>
          </a:xfrm>
          <a:prstGeom prst="roundRect">
            <a:avLst>
              <a:gd name="adj" fmla="val 7894"/>
            </a:avLst>
          </a:prstGeom>
          <a:solidFill>
            <a:srgbClr val="3627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429 + Retry-After; the limit is per player across all challenges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62500" y="3676650"/>
            <a:ext cx="2762250" cy="723900"/>
          </a:xfrm>
          <a:prstGeom prst="roundRect">
            <a:avLst>
              <a:gd name="adj" fmla="val 7894"/>
            </a:avLst>
          </a:prstGeom>
          <a:solidFill>
            <a:srgbClr val="3623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Duplicate or cross-event solves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581900" y="3848100"/>
            <a:ext cx="514350" cy="381000"/>
          </a:xfrm>
          <a:prstGeom prst="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53400" y="3676650"/>
            <a:ext cx="2857500" cy="723900"/>
          </a:xfrm>
          <a:prstGeom prst="roundRect">
            <a:avLst>
              <a:gd name="adj" fmla="val 7894"/>
            </a:avLst>
          </a:prstGeom>
          <a:solidFill>
            <a:srgbClr val="163428"/>
          </a:solidFill>
          <a:ln w="12700">
            <a:solidFill>
              <a:srgbClr val="7DC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Invariants enforced by the database itself</a:t>
            </a:r>
          </a:p>
        </p:txBody>
      </p:sp>
      <p:sp>
        <p:nvSpPr>
          <p:cNvPr id="47" name="Left-Right Arrow 46"/>
          <p:cNvSpPr/>
          <p:nvPr/>
        </p:nvSpPr>
        <p:spPr>
          <a:xfrm>
            <a:off x="11049000" y="3886200"/>
            <a:ext cx="342900" cy="304800"/>
          </a:xfrm>
          <a:prstGeom prst="left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1430000" y="3676650"/>
            <a:ext cx="2057400" cy="723900"/>
          </a:xfrm>
          <a:prstGeom prst="roundRect">
            <a:avLst>
              <a:gd name="adj" fmla="val 7894"/>
            </a:avLst>
          </a:prstGeom>
          <a:solidFill>
            <a:srgbClr val="3627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partial unique index (team_id, challenge_id) WHERE is_correct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62500" y="4495800"/>
            <a:ext cx="2762250" cy="723900"/>
          </a:xfrm>
          <a:prstGeom prst="roundRect">
            <a:avLst>
              <a:gd name="adj" fmla="val 7894"/>
            </a:avLst>
          </a:prstGeom>
          <a:solidFill>
            <a:srgbClr val="3623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A leaked database exposing flags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581900" y="4667250"/>
            <a:ext cx="514350" cy="381000"/>
          </a:xfrm>
          <a:prstGeom prst="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153400" y="4495800"/>
            <a:ext cx="2857500" cy="723900"/>
          </a:xfrm>
          <a:prstGeom prst="roundRect">
            <a:avLst>
              <a:gd name="adj" fmla="val 7894"/>
            </a:avLst>
          </a:prstGeom>
          <a:solidFill>
            <a:srgbClr val="163428"/>
          </a:solidFill>
          <a:ln w="12700">
            <a:solidFill>
              <a:srgbClr val="7DC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HMAC-SHA256 with a server-side secret</a:t>
            </a:r>
          </a:p>
        </p:txBody>
      </p:sp>
      <p:sp>
        <p:nvSpPr>
          <p:cNvPr id="52" name="Left-Right Arrow 51"/>
          <p:cNvSpPr/>
          <p:nvPr/>
        </p:nvSpPr>
        <p:spPr>
          <a:xfrm>
            <a:off x="11049000" y="4705350"/>
            <a:ext cx="342900" cy="304800"/>
          </a:xfrm>
          <a:prstGeom prst="left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1430000" y="4495800"/>
            <a:ext cx="2057400" cy="723900"/>
          </a:xfrm>
          <a:prstGeom prst="roundRect">
            <a:avLst>
              <a:gd name="adj" fmla="val 7894"/>
            </a:avLst>
          </a:prstGeom>
          <a:solidFill>
            <a:srgbClr val="3627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constant-time compare; no endpoint ever returns a flag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62500" y="5314950"/>
            <a:ext cx="2762250" cy="723900"/>
          </a:xfrm>
          <a:prstGeom prst="roundRect">
            <a:avLst>
              <a:gd name="adj" fmla="val 7894"/>
            </a:avLst>
          </a:prstGeom>
          <a:solidFill>
            <a:srgbClr val="3623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Concurrent rebuilds overwriting fresh scores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581900" y="5486400"/>
            <a:ext cx="514350" cy="381000"/>
          </a:xfrm>
          <a:prstGeom prst="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153400" y="5314950"/>
            <a:ext cx="2857500" cy="723900"/>
          </a:xfrm>
          <a:prstGeom prst="roundRect">
            <a:avLst>
              <a:gd name="adj" fmla="val 7894"/>
            </a:avLst>
          </a:prstGeom>
          <a:solidFill>
            <a:srgbClr val="163428"/>
          </a:solidFill>
          <a:ln w="12700">
            <a:solidFill>
              <a:srgbClr val="7DC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25" b="1">
                <a:solidFill>
                  <a:srgbClr val="E6EDF5"/>
                </a:solidFill>
                <a:latin typeface="Arial"/>
              </a:rPr>
              <a:t>One Lua script plus a revision guard</a:t>
            </a:r>
          </a:p>
        </p:txBody>
      </p:sp>
      <p:sp>
        <p:nvSpPr>
          <p:cNvPr id="57" name="Left-Right Arrow 56"/>
          <p:cNvSpPr/>
          <p:nvPr/>
        </p:nvSpPr>
        <p:spPr>
          <a:xfrm>
            <a:off x="11049000" y="5524500"/>
            <a:ext cx="342900" cy="304800"/>
          </a:xfrm>
          <a:prstGeom prst="leftRightArrow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1430000" y="5314950"/>
            <a:ext cx="2057400" cy="723900"/>
          </a:xfrm>
          <a:prstGeom prst="roundRect">
            <a:avLst>
              <a:gd name="adj" fmla="val 7894"/>
            </a:avLst>
          </a:prstGeom>
          <a:solidFill>
            <a:srgbClr val="362714"/>
          </a:solidFill>
          <a:ln w="12700">
            <a:solidFill>
              <a:srgbClr val="E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625" tIns="28575" rIns="47625" bIns="28575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a rebuild that finished late carries a lower revision and is skipped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05350" y="6172200"/>
            <a:ext cx="8820150" cy="1143000"/>
          </a:xfrm>
          <a:prstGeom prst="roundRect">
            <a:avLst>
              <a:gd name="adj" fmla="val 8333"/>
            </a:avLst>
          </a:prstGeom>
          <a:solidFill>
            <a:srgbClr val="142536"/>
          </a:solidFill>
          <a:ln w="15875">
            <a:solidFill>
              <a:srgbClr val="A9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5350" y="6210300"/>
            <a:ext cx="8820150" cy="2476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E6EDF5"/>
                </a:solidFill>
                <a:latin typeface="Arial"/>
              </a:rPr>
              <a:t>Viability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7750" y="6477000"/>
            <a:ext cx="2667000" cy="3238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5CA2E0"/>
                </a:solidFill>
                <a:latin typeface="Arial"/>
              </a:rPr>
              <a:t>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7750" y="6819900"/>
            <a:ext cx="2667000" cy="4000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ZERO LICENSING COST · FULLY OPEN SOURCE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15250" y="6477000"/>
            <a:ext cx="2667000" cy="3238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5CA2E0"/>
                </a:solidFill>
                <a:latin typeface="Arial"/>
              </a:rPr>
              <a:t>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15250" y="6819900"/>
            <a:ext cx="2667000" cy="4000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RUNS END TO END ON FREE-TIER INFRASTRUCTURE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72750" y="6477000"/>
            <a:ext cx="2667000" cy="323850"/>
          </a:xfrm>
          <a:prstGeom prst="rect">
            <a:avLst/>
          </a:prstGeom>
          <a:noFill/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50" b="1">
                <a:solidFill>
                  <a:srgbClr val="5CA2E0"/>
                </a:solidFill>
                <a:latin typeface="Arial"/>
              </a:rPr>
              <a:t>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72750" y="6819900"/>
            <a:ext cx="2667000" cy="400050"/>
          </a:xfrm>
          <a:prstGeom prst="rect">
            <a:avLst/>
          </a:prstGeom>
          <a:noFill/>
        </p:spPr>
        <p:txBody>
          <a:bodyPr wrap="square" lIns="47625" tIns="28575" rIns="47625" bIns="28575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25" b="1">
                <a:solidFill>
                  <a:srgbClr val="E6EDF5"/>
                </a:solidFill>
                <a:latin typeface="Arial"/>
              </a:rPr>
              <a:t>ONE COMPOSE FILE TO SELF-HOST ANYWHERE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2016</Words>
  <Application>Microsoft Office PowerPoint</Application>
  <PresentationFormat>Custom</PresentationFormat>
  <Paragraphs>413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Aakash Marigeri</cp:lastModifiedBy>
  <cp:revision>7</cp:revision>
  <dcterms:created xsi:type="dcterms:W3CDTF">2013-01-27T09:14:16Z</dcterms:created>
  <dcterms:modified xsi:type="dcterms:W3CDTF">2026-10-02T10:57:56Z</dcterms:modified>
  <cp:category/>
</cp:coreProperties>
</file>